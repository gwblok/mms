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2561" r:id="rId2"/>
    <p:sldId id="2588" r:id="rId3"/>
    <p:sldId id="2589" r:id="rId4"/>
    <p:sldId id="2562" r:id="rId5"/>
    <p:sldId id="2587" r:id="rId6"/>
    <p:sldId id="2563" r:id="rId7"/>
    <p:sldId id="2564" r:id="rId8"/>
    <p:sldId id="2566" r:id="rId9"/>
    <p:sldId id="2567" r:id="rId10"/>
    <p:sldId id="2568" r:id="rId11"/>
    <p:sldId id="2582" r:id="rId12"/>
    <p:sldId id="2583" r:id="rId13"/>
    <p:sldId id="2584" r:id="rId14"/>
    <p:sldId id="2585" r:id="rId15"/>
    <p:sldId id="2569" r:id="rId16"/>
    <p:sldId id="2571" r:id="rId17"/>
    <p:sldId id="2573" r:id="rId18"/>
    <p:sldId id="2574" r:id="rId19"/>
    <p:sldId id="2575" r:id="rId20"/>
    <p:sldId id="2586" r:id="rId21"/>
    <p:sldId id="2576" r:id="rId22"/>
    <p:sldId id="2577" r:id="rId23"/>
    <p:sldId id="2578" r:id="rId24"/>
    <p:sldId id="2580" r:id="rId25"/>
    <p:sldId id="258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roubleshooting Operating System Deployment: Techniques and Tools" id="{2B4094EA-10AA-432E-8AD4-7138CB5677E8}">
          <p14:sldIdLst>
            <p14:sldId id="2561"/>
            <p14:sldId id="2588"/>
            <p14:sldId id="2589"/>
            <p14:sldId id="2562"/>
            <p14:sldId id="2587"/>
          </p14:sldIdLst>
        </p14:section>
        <p14:section name="Basics of Operating System Deployment (OSD)" id="{44CC5A58-6266-4FE6-B3B2-CC5299226931}">
          <p14:sldIdLst>
            <p14:sldId id="2563"/>
            <p14:sldId id="2564"/>
            <p14:sldId id="2566"/>
            <p14:sldId id="2567"/>
            <p14:sldId id="2568"/>
            <p14:sldId id="2582"/>
            <p14:sldId id="2583"/>
            <p14:sldId id="2584"/>
            <p14:sldId id="2585"/>
          </p14:sldIdLst>
        </p14:section>
        <p14:section name="Configuration Manager OSD Troubleshooting" id="{34FA0154-2851-4BC7-96BA-5E6C025CC178}">
          <p14:sldIdLst>
            <p14:sldId id="2569"/>
            <p14:sldId id="2571"/>
          </p14:sldIdLst>
        </p14:section>
        <p14:section name="Common Deployment Issues" id="{320C97EE-4867-4869-9209-6FBAD5963684}">
          <p14:sldIdLst>
            <p14:sldId id="2573"/>
            <p14:sldId id="2574"/>
            <p14:sldId id="2575"/>
            <p14:sldId id="2586"/>
            <p14:sldId id="2576"/>
          </p14:sldIdLst>
        </p14:section>
        <p14:section name="OSD Debugging Tools" id="{B7FBA2BA-3EB7-430D-A205-2D9162AC9215}">
          <p14:sldIdLst>
            <p14:sldId id="2577"/>
            <p14:sldId id="2578"/>
            <p14:sldId id="2580"/>
          </p14:sldIdLst>
        </p14:section>
        <p14:section name="Conclusion" id="{FC1A7FBB-68B1-454C-81D9-9C780DEAA26B}">
          <p14:sldIdLst>
            <p14:sldId id="25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034F85-2D0A-4BD6-A686-21FDF0BF5B0E}" v="1270" dt="2025-07-15T03:02:52.0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801" autoAdjust="0"/>
    <p:restoredTop sz="94660"/>
  </p:normalViewPr>
  <p:slideViewPr>
    <p:cSldViewPr snapToGrid="0">
      <p:cViewPr varScale="1">
        <p:scale>
          <a:sx n="111" d="100"/>
          <a:sy n="111" d="100"/>
        </p:scale>
        <p:origin x="77" y="298"/>
      </p:cViewPr>
      <p:guideLst/>
    </p:cSldViewPr>
  </p:slideViewPr>
  <p:notesTextViewPr>
    <p:cViewPr>
      <p:scale>
        <a:sx n="1" d="1"/>
        <a:sy n="1" d="1"/>
      </p:scale>
      <p:origin x="0" y="0"/>
    </p:cViewPr>
  </p:notesTextViewPr>
  <p:sorterViewPr>
    <p:cViewPr>
      <p:scale>
        <a:sx n="100" d="100"/>
        <a:sy n="100" d="100"/>
      </p:scale>
      <p:origin x="0" y="-524"/>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6DE3DE2-F055-41F5-B7DF-E39316A70BC6}"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88518C3A-BC1D-4D49-AFA0-5F3913DC87D8}">
      <dgm:prSet/>
      <dgm:spPr/>
      <dgm:t>
        <a:bodyPr/>
        <a:lstStyle/>
        <a:p>
          <a:pPr>
            <a:lnSpc>
              <a:spcPct val="100000"/>
            </a:lnSpc>
            <a:defRPr b="1"/>
          </a:pPr>
          <a:r>
            <a:rPr lang="en-US"/>
            <a:t>Understanding Deployment Phases</a:t>
          </a:r>
        </a:p>
      </dgm:t>
    </dgm:pt>
    <dgm:pt modelId="{07722D0F-A03B-42A5-849E-21AB85548211}" type="parTrans" cxnId="{070F7FFA-4588-4C39-938A-7F9CBA1B21A6}">
      <dgm:prSet/>
      <dgm:spPr/>
      <dgm:t>
        <a:bodyPr/>
        <a:lstStyle/>
        <a:p>
          <a:endParaRPr lang="en-US"/>
        </a:p>
      </dgm:t>
    </dgm:pt>
    <dgm:pt modelId="{89EC6D49-AB1C-45C7-8AE0-210D5D8081D3}" type="sibTrans" cxnId="{070F7FFA-4588-4C39-938A-7F9CBA1B21A6}">
      <dgm:prSet/>
      <dgm:spPr/>
      <dgm:t>
        <a:bodyPr/>
        <a:lstStyle/>
        <a:p>
          <a:pPr>
            <a:lnSpc>
              <a:spcPct val="100000"/>
            </a:lnSpc>
            <a:defRPr b="1"/>
          </a:pPr>
          <a:endParaRPr lang="en-US"/>
        </a:p>
      </dgm:t>
    </dgm:pt>
    <dgm:pt modelId="{4879D1AA-2A1D-476A-AC6A-354ABB0F4249}">
      <dgm:prSet/>
      <dgm:spPr/>
      <dgm:t>
        <a:bodyPr/>
        <a:lstStyle/>
        <a:p>
          <a:pPr>
            <a:lnSpc>
              <a:spcPct val="100000"/>
            </a:lnSpc>
          </a:pPr>
          <a:r>
            <a:rPr lang="en-US"/>
            <a:t>A clear understanding of the deployment phases is crucial for effective troubleshooting and successful deployment outcomes.</a:t>
          </a:r>
        </a:p>
      </dgm:t>
    </dgm:pt>
    <dgm:pt modelId="{8881EB84-1BA0-4ED1-A9CD-740E9C820D4D}" type="parTrans" cxnId="{024056BB-6BCE-42D9-9247-FF41529D4ADC}">
      <dgm:prSet/>
      <dgm:spPr/>
      <dgm:t>
        <a:bodyPr/>
        <a:lstStyle/>
        <a:p>
          <a:endParaRPr lang="en-US"/>
        </a:p>
      </dgm:t>
    </dgm:pt>
    <dgm:pt modelId="{A0E40DB4-C501-4641-911C-6C24A4158D02}" type="sibTrans" cxnId="{024056BB-6BCE-42D9-9247-FF41529D4ADC}">
      <dgm:prSet/>
      <dgm:spPr/>
      <dgm:t>
        <a:bodyPr/>
        <a:lstStyle/>
        <a:p>
          <a:endParaRPr lang="en-US"/>
        </a:p>
      </dgm:t>
    </dgm:pt>
    <dgm:pt modelId="{0CD9EDFA-3773-45CC-976F-6FEE1DA9622C}">
      <dgm:prSet/>
      <dgm:spPr/>
      <dgm:t>
        <a:bodyPr/>
        <a:lstStyle/>
        <a:p>
          <a:pPr>
            <a:lnSpc>
              <a:spcPct val="100000"/>
            </a:lnSpc>
            <a:defRPr b="1"/>
          </a:pPr>
          <a:r>
            <a:rPr lang="en-US"/>
            <a:t>Identifying Common Issues</a:t>
          </a:r>
        </a:p>
      </dgm:t>
    </dgm:pt>
    <dgm:pt modelId="{68492900-4B61-4778-B4FA-C1492251EBC0}" type="parTrans" cxnId="{0A656063-0F24-4562-9897-291B602D7BA8}">
      <dgm:prSet/>
      <dgm:spPr/>
      <dgm:t>
        <a:bodyPr/>
        <a:lstStyle/>
        <a:p>
          <a:endParaRPr lang="en-US"/>
        </a:p>
      </dgm:t>
    </dgm:pt>
    <dgm:pt modelId="{E1ED91C0-0D55-474D-9D50-33C80AE6E94D}" type="sibTrans" cxnId="{0A656063-0F24-4562-9897-291B602D7BA8}">
      <dgm:prSet/>
      <dgm:spPr/>
      <dgm:t>
        <a:bodyPr/>
        <a:lstStyle/>
        <a:p>
          <a:pPr>
            <a:lnSpc>
              <a:spcPct val="100000"/>
            </a:lnSpc>
            <a:defRPr b="1"/>
          </a:pPr>
          <a:endParaRPr lang="en-US"/>
        </a:p>
      </dgm:t>
    </dgm:pt>
    <dgm:pt modelId="{90D1398C-01CC-42F8-8969-0ECDB8797A91}">
      <dgm:prSet/>
      <dgm:spPr/>
      <dgm:t>
        <a:bodyPr/>
        <a:lstStyle/>
        <a:p>
          <a:pPr>
            <a:lnSpc>
              <a:spcPct val="100000"/>
            </a:lnSpc>
          </a:pPr>
          <a:r>
            <a:rPr lang="en-US"/>
            <a:t>Being aware of common issues that arise during deployment allows IT professionals to address them promptly and efficiently.</a:t>
          </a:r>
        </a:p>
      </dgm:t>
    </dgm:pt>
    <dgm:pt modelId="{DFCB83EE-684B-4863-BD4C-38259D303271}" type="parTrans" cxnId="{D8396B04-0656-4B8D-A3DA-405B388993B5}">
      <dgm:prSet/>
      <dgm:spPr/>
      <dgm:t>
        <a:bodyPr/>
        <a:lstStyle/>
        <a:p>
          <a:endParaRPr lang="en-US"/>
        </a:p>
      </dgm:t>
    </dgm:pt>
    <dgm:pt modelId="{5832BE94-A2DB-4EFE-927F-ACDE05A517E7}" type="sibTrans" cxnId="{D8396B04-0656-4B8D-A3DA-405B388993B5}">
      <dgm:prSet/>
      <dgm:spPr/>
      <dgm:t>
        <a:bodyPr/>
        <a:lstStyle/>
        <a:p>
          <a:endParaRPr lang="en-US"/>
        </a:p>
      </dgm:t>
    </dgm:pt>
    <dgm:pt modelId="{562277BB-E7FB-4134-8637-DB14832B3FB9}">
      <dgm:prSet/>
      <dgm:spPr/>
      <dgm:t>
        <a:bodyPr/>
        <a:lstStyle/>
        <a:p>
          <a:pPr>
            <a:lnSpc>
              <a:spcPct val="100000"/>
            </a:lnSpc>
            <a:defRPr b="1"/>
          </a:pPr>
          <a:r>
            <a:rPr lang="en-US"/>
            <a:t>Utilizing the Right Tools</a:t>
          </a:r>
        </a:p>
      </dgm:t>
    </dgm:pt>
    <dgm:pt modelId="{2A354662-59FE-4703-8621-25397A327900}" type="parTrans" cxnId="{27B2952B-31BC-4999-BB29-26E37F6D5A16}">
      <dgm:prSet/>
      <dgm:spPr/>
      <dgm:t>
        <a:bodyPr/>
        <a:lstStyle/>
        <a:p>
          <a:endParaRPr lang="en-US"/>
        </a:p>
      </dgm:t>
    </dgm:pt>
    <dgm:pt modelId="{F2313FA4-1FE8-424F-A794-6C426028BB71}" type="sibTrans" cxnId="{27B2952B-31BC-4999-BB29-26E37F6D5A16}">
      <dgm:prSet/>
      <dgm:spPr/>
      <dgm:t>
        <a:bodyPr/>
        <a:lstStyle/>
        <a:p>
          <a:endParaRPr lang="en-US"/>
        </a:p>
      </dgm:t>
    </dgm:pt>
    <dgm:pt modelId="{74615E63-636F-4C88-A0D3-EAD471C2738E}">
      <dgm:prSet/>
      <dgm:spPr/>
      <dgm:t>
        <a:bodyPr/>
        <a:lstStyle/>
        <a:p>
          <a:pPr>
            <a:lnSpc>
              <a:spcPct val="100000"/>
            </a:lnSpc>
          </a:pPr>
          <a:r>
            <a:rPr lang="en-US"/>
            <a:t>Using the appropriate tools and techniques can significantly enhance the troubleshooting process and improve deployment efficiency.</a:t>
          </a:r>
        </a:p>
      </dgm:t>
    </dgm:pt>
    <dgm:pt modelId="{277325B5-0255-43EC-B7F6-40A2A19B6FC3}" type="parTrans" cxnId="{39F26EA1-03DA-47D8-A5E9-65E7BA4CB32F}">
      <dgm:prSet/>
      <dgm:spPr/>
      <dgm:t>
        <a:bodyPr/>
        <a:lstStyle/>
        <a:p>
          <a:endParaRPr lang="en-US"/>
        </a:p>
      </dgm:t>
    </dgm:pt>
    <dgm:pt modelId="{3E21997B-395B-4F62-940B-6F9A01394A28}" type="sibTrans" cxnId="{39F26EA1-03DA-47D8-A5E9-65E7BA4CB32F}">
      <dgm:prSet/>
      <dgm:spPr/>
      <dgm:t>
        <a:bodyPr/>
        <a:lstStyle/>
        <a:p>
          <a:endParaRPr lang="en-US"/>
        </a:p>
      </dgm:t>
    </dgm:pt>
    <dgm:pt modelId="{02E5D2BF-4C02-4AB2-8712-1BC2B5018F36}" type="pres">
      <dgm:prSet presAssocID="{36DE3DE2-F055-41F5-B7DF-E39316A70BC6}" presName="Name0" presStyleCnt="0">
        <dgm:presLayoutVars>
          <dgm:dir/>
          <dgm:resizeHandles val="exact"/>
        </dgm:presLayoutVars>
      </dgm:prSet>
      <dgm:spPr/>
    </dgm:pt>
    <dgm:pt modelId="{6CF1DD9E-B7FA-42E0-8F57-ADC0DB3BEB10}" type="pres">
      <dgm:prSet presAssocID="{88518C3A-BC1D-4D49-AFA0-5F3913DC87D8}" presName="compNode" presStyleCnt="0"/>
      <dgm:spPr/>
    </dgm:pt>
    <dgm:pt modelId="{37FC333B-04FB-4774-8A6A-931C740EC260}" type="pres">
      <dgm:prSet presAssocID="{88518C3A-BC1D-4D49-AFA0-5F3913DC87D8}" presName="pictRect" presStyleLbl="revTx" presStyleIdx="0" presStyleCnt="6">
        <dgm:presLayoutVars>
          <dgm:chMax val="0"/>
          <dgm:bulletEnabled/>
        </dgm:presLayoutVars>
      </dgm:prSet>
      <dgm:spPr/>
    </dgm:pt>
    <dgm:pt modelId="{75F6D9A3-23B9-4D79-9AEF-9731AFEC151E}" type="pres">
      <dgm:prSet presAssocID="{88518C3A-BC1D-4D49-AFA0-5F3913DC87D8}" presName="textRect" presStyleLbl="revTx" presStyleIdx="1" presStyleCnt="6">
        <dgm:presLayoutVars>
          <dgm:bulletEnabled/>
        </dgm:presLayoutVars>
      </dgm:prSet>
      <dgm:spPr/>
    </dgm:pt>
    <dgm:pt modelId="{D0705FA0-59E9-4503-96BB-FB2F57043E5A}" type="pres">
      <dgm:prSet presAssocID="{89EC6D49-AB1C-45C7-8AE0-210D5D8081D3}" presName="sibTrans" presStyleLbl="sibTrans2D1" presStyleIdx="0" presStyleCnt="0"/>
      <dgm:spPr/>
    </dgm:pt>
    <dgm:pt modelId="{F438517C-5812-4F2A-B656-0978EAEAB5AA}" type="pres">
      <dgm:prSet presAssocID="{0CD9EDFA-3773-45CC-976F-6FEE1DA9622C}" presName="compNode" presStyleCnt="0"/>
      <dgm:spPr/>
    </dgm:pt>
    <dgm:pt modelId="{51D490DB-496A-4202-A008-E70E4A2D7B4C}" type="pres">
      <dgm:prSet presAssocID="{0CD9EDFA-3773-45CC-976F-6FEE1DA9622C}" presName="pictRect" presStyleLbl="revTx" presStyleIdx="2" presStyleCnt="6">
        <dgm:presLayoutVars>
          <dgm:chMax val="0"/>
          <dgm:bulletEnabled/>
        </dgm:presLayoutVars>
      </dgm:prSet>
      <dgm:spPr/>
    </dgm:pt>
    <dgm:pt modelId="{3E63CA07-585D-4872-ABFF-D192F1D89666}" type="pres">
      <dgm:prSet presAssocID="{0CD9EDFA-3773-45CC-976F-6FEE1DA9622C}" presName="textRect" presStyleLbl="revTx" presStyleIdx="3" presStyleCnt="6">
        <dgm:presLayoutVars>
          <dgm:bulletEnabled/>
        </dgm:presLayoutVars>
      </dgm:prSet>
      <dgm:spPr/>
    </dgm:pt>
    <dgm:pt modelId="{9AD38BA2-D340-4315-BB62-E52504F9BC0B}" type="pres">
      <dgm:prSet presAssocID="{E1ED91C0-0D55-474D-9D50-33C80AE6E94D}" presName="sibTrans" presStyleLbl="sibTrans2D1" presStyleIdx="0" presStyleCnt="0"/>
      <dgm:spPr/>
    </dgm:pt>
    <dgm:pt modelId="{E8CFA0EC-F04C-4D8E-86EE-A0E49CC984F2}" type="pres">
      <dgm:prSet presAssocID="{562277BB-E7FB-4134-8637-DB14832B3FB9}" presName="compNode" presStyleCnt="0"/>
      <dgm:spPr/>
    </dgm:pt>
    <dgm:pt modelId="{10A462B3-F0B7-40C7-906C-733CCCEF2F67}" type="pres">
      <dgm:prSet presAssocID="{562277BB-E7FB-4134-8637-DB14832B3FB9}" presName="pictRect" presStyleLbl="revTx" presStyleIdx="4" presStyleCnt="6">
        <dgm:presLayoutVars>
          <dgm:chMax val="0"/>
          <dgm:bulletEnabled/>
        </dgm:presLayoutVars>
      </dgm:prSet>
      <dgm:spPr/>
    </dgm:pt>
    <dgm:pt modelId="{DA1F6D0C-488B-4DB0-BD1B-89B1B0280FE5}" type="pres">
      <dgm:prSet presAssocID="{562277BB-E7FB-4134-8637-DB14832B3FB9}" presName="textRect" presStyleLbl="revTx" presStyleIdx="5" presStyleCnt="6">
        <dgm:presLayoutVars>
          <dgm:bulletEnabled/>
        </dgm:presLayoutVars>
      </dgm:prSet>
      <dgm:spPr/>
    </dgm:pt>
  </dgm:ptLst>
  <dgm:cxnLst>
    <dgm:cxn modelId="{D8396B04-0656-4B8D-A3DA-405B388993B5}" srcId="{0CD9EDFA-3773-45CC-976F-6FEE1DA9622C}" destId="{90D1398C-01CC-42F8-8969-0ECDB8797A91}" srcOrd="0" destOrd="0" parTransId="{DFCB83EE-684B-4863-BD4C-38259D303271}" sibTransId="{5832BE94-A2DB-4EFE-927F-ACDE05A517E7}"/>
    <dgm:cxn modelId="{E081E819-D14A-459E-BA9F-C313AA8CA830}" type="presOf" srcId="{90D1398C-01CC-42F8-8969-0ECDB8797A91}" destId="{3E63CA07-585D-4872-ABFF-D192F1D89666}" srcOrd="0" destOrd="0" presId="urn:microsoft.com/office/officeart/2024/3/layout/hArchList1"/>
    <dgm:cxn modelId="{B50A6B1B-B8EF-4A59-BCC6-AF9C47DD96DC}" type="presOf" srcId="{36DE3DE2-F055-41F5-B7DF-E39316A70BC6}" destId="{02E5D2BF-4C02-4AB2-8712-1BC2B5018F36}" srcOrd="0" destOrd="0" presId="urn:microsoft.com/office/officeart/2024/3/layout/hArchList1"/>
    <dgm:cxn modelId="{27B2952B-31BC-4999-BB29-26E37F6D5A16}" srcId="{36DE3DE2-F055-41F5-B7DF-E39316A70BC6}" destId="{562277BB-E7FB-4134-8637-DB14832B3FB9}" srcOrd="2" destOrd="0" parTransId="{2A354662-59FE-4703-8621-25397A327900}" sibTransId="{F2313FA4-1FE8-424F-A794-6C426028BB71}"/>
    <dgm:cxn modelId="{9F2EBE33-4E06-4A26-A60D-DA01CB1CB96A}" type="presOf" srcId="{74615E63-636F-4C88-A0D3-EAD471C2738E}" destId="{DA1F6D0C-488B-4DB0-BD1B-89B1B0280FE5}" srcOrd="0" destOrd="0" presId="urn:microsoft.com/office/officeart/2024/3/layout/hArchList1"/>
    <dgm:cxn modelId="{0A656063-0F24-4562-9897-291B602D7BA8}" srcId="{36DE3DE2-F055-41F5-B7DF-E39316A70BC6}" destId="{0CD9EDFA-3773-45CC-976F-6FEE1DA9622C}" srcOrd="1" destOrd="0" parTransId="{68492900-4B61-4778-B4FA-C1492251EBC0}" sibTransId="{E1ED91C0-0D55-474D-9D50-33C80AE6E94D}"/>
    <dgm:cxn modelId="{03EB0E54-E3C2-4DFC-96FF-B65256F7C0CA}" type="presOf" srcId="{0CD9EDFA-3773-45CC-976F-6FEE1DA9622C}" destId="{51D490DB-496A-4202-A008-E70E4A2D7B4C}" srcOrd="0" destOrd="0" presId="urn:microsoft.com/office/officeart/2024/3/layout/hArchList1"/>
    <dgm:cxn modelId="{8DFEF291-E283-4262-88A5-C25FE48CE076}" type="presOf" srcId="{4879D1AA-2A1D-476A-AC6A-354ABB0F4249}" destId="{75F6D9A3-23B9-4D79-9AEF-9731AFEC151E}" srcOrd="0" destOrd="0" presId="urn:microsoft.com/office/officeart/2024/3/layout/hArchList1"/>
    <dgm:cxn modelId="{39F26EA1-03DA-47D8-A5E9-65E7BA4CB32F}" srcId="{562277BB-E7FB-4134-8637-DB14832B3FB9}" destId="{74615E63-636F-4C88-A0D3-EAD471C2738E}" srcOrd="0" destOrd="0" parTransId="{277325B5-0255-43EC-B7F6-40A2A19B6FC3}" sibTransId="{3E21997B-395B-4F62-940B-6F9A01394A28}"/>
    <dgm:cxn modelId="{91CB83B3-8118-4D58-A80F-AB94386B8D11}" type="presOf" srcId="{88518C3A-BC1D-4D49-AFA0-5F3913DC87D8}" destId="{37FC333B-04FB-4774-8A6A-931C740EC260}" srcOrd="0" destOrd="0" presId="urn:microsoft.com/office/officeart/2024/3/layout/hArchList1"/>
    <dgm:cxn modelId="{024056BB-6BCE-42D9-9247-FF41529D4ADC}" srcId="{88518C3A-BC1D-4D49-AFA0-5F3913DC87D8}" destId="{4879D1AA-2A1D-476A-AC6A-354ABB0F4249}" srcOrd="0" destOrd="0" parTransId="{8881EB84-1BA0-4ED1-A9CD-740E9C820D4D}" sibTransId="{A0E40DB4-C501-4641-911C-6C24A4158D02}"/>
    <dgm:cxn modelId="{084FB7CB-1F36-4AC4-B9DA-3566EC746616}" type="presOf" srcId="{89EC6D49-AB1C-45C7-8AE0-210D5D8081D3}" destId="{D0705FA0-59E9-4503-96BB-FB2F57043E5A}" srcOrd="0" destOrd="0" presId="urn:microsoft.com/office/officeart/2024/3/layout/hArchList1"/>
    <dgm:cxn modelId="{FD8705E5-8F29-4B06-845A-619C94619E8F}" type="presOf" srcId="{E1ED91C0-0D55-474D-9D50-33C80AE6E94D}" destId="{9AD38BA2-D340-4315-BB62-E52504F9BC0B}" srcOrd="0" destOrd="0" presId="urn:microsoft.com/office/officeart/2024/3/layout/hArchList1"/>
    <dgm:cxn modelId="{4C1FB1EF-19E9-42C0-BEA3-DF937CAE0835}" type="presOf" srcId="{562277BB-E7FB-4134-8637-DB14832B3FB9}" destId="{10A462B3-F0B7-40C7-906C-733CCCEF2F67}" srcOrd="0" destOrd="0" presId="urn:microsoft.com/office/officeart/2024/3/layout/hArchList1"/>
    <dgm:cxn modelId="{070F7FFA-4588-4C39-938A-7F9CBA1B21A6}" srcId="{36DE3DE2-F055-41F5-B7DF-E39316A70BC6}" destId="{88518C3A-BC1D-4D49-AFA0-5F3913DC87D8}" srcOrd="0" destOrd="0" parTransId="{07722D0F-A03B-42A5-849E-21AB85548211}" sibTransId="{89EC6D49-AB1C-45C7-8AE0-210D5D8081D3}"/>
    <dgm:cxn modelId="{4C82D26E-5750-4DB6-8B40-3A9FE719F7D9}" type="presParOf" srcId="{02E5D2BF-4C02-4AB2-8712-1BC2B5018F36}" destId="{6CF1DD9E-B7FA-42E0-8F57-ADC0DB3BEB10}" srcOrd="0" destOrd="0" presId="urn:microsoft.com/office/officeart/2024/3/layout/hArchList1"/>
    <dgm:cxn modelId="{627CC588-2C6E-4662-B895-EF4886B7F111}" type="presParOf" srcId="{6CF1DD9E-B7FA-42E0-8F57-ADC0DB3BEB10}" destId="{37FC333B-04FB-4774-8A6A-931C740EC260}" srcOrd="0" destOrd="0" presId="urn:microsoft.com/office/officeart/2024/3/layout/hArchList1"/>
    <dgm:cxn modelId="{65E304EF-A18C-40E3-BE20-67DE626474B2}" type="presParOf" srcId="{6CF1DD9E-B7FA-42E0-8F57-ADC0DB3BEB10}" destId="{75F6D9A3-23B9-4D79-9AEF-9731AFEC151E}" srcOrd="1" destOrd="0" presId="urn:microsoft.com/office/officeart/2024/3/layout/hArchList1"/>
    <dgm:cxn modelId="{FCAD51DB-6B0B-49D5-9E40-DB3564ADE87B}" type="presParOf" srcId="{02E5D2BF-4C02-4AB2-8712-1BC2B5018F36}" destId="{D0705FA0-59E9-4503-96BB-FB2F57043E5A}" srcOrd="1" destOrd="0" presId="urn:microsoft.com/office/officeart/2024/3/layout/hArchList1"/>
    <dgm:cxn modelId="{F7CC5272-D452-471D-A4F9-854B648B5F5A}" type="presParOf" srcId="{02E5D2BF-4C02-4AB2-8712-1BC2B5018F36}" destId="{F438517C-5812-4F2A-B656-0978EAEAB5AA}" srcOrd="2" destOrd="0" presId="urn:microsoft.com/office/officeart/2024/3/layout/hArchList1"/>
    <dgm:cxn modelId="{8781B590-BE17-4ADF-8E8B-38BD6B5B4183}" type="presParOf" srcId="{F438517C-5812-4F2A-B656-0978EAEAB5AA}" destId="{51D490DB-496A-4202-A008-E70E4A2D7B4C}" srcOrd="0" destOrd="0" presId="urn:microsoft.com/office/officeart/2024/3/layout/hArchList1"/>
    <dgm:cxn modelId="{6DD3867B-DD22-4189-AD28-AD4270949977}" type="presParOf" srcId="{F438517C-5812-4F2A-B656-0978EAEAB5AA}" destId="{3E63CA07-585D-4872-ABFF-D192F1D89666}" srcOrd="1" destOrd="0" presId="urn:microsoft.com/office/officeart/2024/3/layout/hArchList1"/>
    <dgm:cxn modelId="{F91B6FEC-FF44-42DD-B2D5-1D50D500F906}" type="presParOf" srcId="{02E5D2BF-4C02-4AB2-8712-1BC2B5018F36}" destId="{9AD38BA2-D340-4315-BB62-E52504F9BC0B}" srcOrd="3" destOrd="0" presId="urn:microsoft.com/office/officeart/2024/3/layout/hArchList1"/>
    <dgm:cxn modelId="{AC1EF2A9-BCB6-442A-AFCE-8E17617ECAE7}" type="presParOf" srcId="{02E5D2BF-4C02-4AB2-8712-1BC2B5018F36}" destId="{E8CFA0EC-F04C-4D8E-86EE-A0E49CC984F2}" srcOrd="4" destOrd="0" presId="urn:microsoft.com/office/officeart/2024/3/layout/hArchList1"/>
    <dgm:cxn modelId="{DDBE7CFF-A3F9-48B1-881E-08FC1639A75A}" type="presParOf" srcId="{E8CFA0EC-F04C-4D8E-86EE-A0E49CC984F2}" destId="{10A462B3-F0B7-40C7-906C-733CCCEF2F67}" srcOrd="0" destOrd="0" presId="urn:microsoft.com/office/officeart/2024/3/layout/hArchList1"/>
    <dgm:cxn modelId="{1BB2B59A-A502-4534-B809-F75325E976F9}" type="presParOf" srcId="{E8CFA0EC-F04C-4D8E-86EE-A0E49CC984F2}" destId="{DA1F6D0C-488B-4DB0-BD1B-89B1B0280FE5}"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FC333B-04FB-4774-8A6A-931C740EC260}">
      <dsp:nvSpPr>
        <dsp:cNvPr id="0" name=""/>
        <dsp:cNvSpPr/>
      </dsp:nvSpPr>
      <dsp:spPr>
        <a:xfrm>
          <a:off x="0" y="0"/>
          <a:ext cx="3377565" cy="6217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Understanding Deployment Phases</a:t>
          </a:r>
        </a:p>
      </dsp:txBody>
      <dsp:txXfrm>
        <a:off x="0" y="0"/>
        <a:ext cx="3377565" cy="621784"/>
      </dsp:txXfrm>
    </dsp:sp>
    <dsp:sp modelId="{75F6D9A3-23B9-4D79-9AEF-9731AFEC151E}">
      <dsp:nvSpPr>
        <dsp:cNvPr id="0" name=""/>
        <dsp:cNvSpPr/>
      </dsp:nvSpPr>
      <dsp:spPr>
        <a:xfrm>
          <a:off x="0" y="621784"/>
          <a:ext cx="3377565" cy="18928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A clear understanding of the deployment phases is crucial for effective troubleshooting and successful deployment outcomes.</a:t>
          </a:r>
        </a:p>
      </dsp:txBody>
      <dsp:txXfrm>
        <a:off x="0" y="621784"/>
        <a:ext cx="3377565" cy="1892815"/>
      </dsp:txXfrm>
    </dsp:sp>
    <dsp:sp modelId="{51D490DB-496A-4202-A008-E70E4A2D7B4C}">
      <dsp:nvSpPr>
        <dsp:cNvPr id="0" name=""/>
        <dsp:cNvSpPr/>
      </dsp:nvSpPr>
      <dsp:spPr>
        <a:xfrm>
          <a:off x="3715321" y="0"/>
          <a:ext cx="3377565" cy="6217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Identifying Common Issues</a:t>
          </a:r>
        </a:p>
      </dsp:txBody>
      <dsp:txXfrm>
        <a:off x="3715321" y="0"/>
        <a:ext cx="3377565" cy="621784"/>
      </dsp:txXfrm>
    </dsp:sp>
    <dsp:sp modelId="{3E63CA07-585D-4872-ABFF-D192F1D89666}">
      <dsp:nvSpPr>
        <dsp:cNvPr id="0" name=""/>
        <dsp:cNvSpPr/>
      </dsp:nvSpPr>
      <dsp:spPr>
        <a:xfrm>
          <a:off x="3715321" y="621784"/>
          <a:ext cx="3377565" cy="18928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Being aware of common issues that arise during deployment allows IT professionals to address them promptly and efficiently.</a:t>
          </a:r>
        </a:p>
      </dsp:txBody>
      <dsp:txXfrm>
        <a:off x="3715321" y="621784"/>
        <a:ext cx="3377565" cy="1892815"/>
      </dsp:txXfrm>
    </dsp:sp>
    <dsp:sp modelId="{10A462B3-F0B7-40C7-906C-733CCCEF2F67}">
      <dsp:nvSpPr>
        <dsp:cNvPr id="0" name=""/>
        <dsp:cNvSpPr/>
      </dsp:nvSpPr>
      <dsp:spPr>
        <a:xfrm>
          <a:off x="7430643" y="0"/>
          <a:ext cx="3377565" cy="6217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Utilizing the Right Tools</a:t>
          </a:r>
        </a:p>
      </dsp:txBody>
      <dsp:txXfrm>
        <a:off x="7430643" y="0"/>
        <a:ext cx="3377565" cy="621784"/>
      </dsp:txXfrm>
    </dsp:sp>
    <dsp:sp modelId="{DA1F6D0C-488B-4DB0-BD1B-89B1B0280FE5}">
      <dsp:nvSpPr>
        <dsp:cNvPr id="0" name=""/>
        <dsp:cNvSpPr/>
      </dsp:nvSpPr>
      <dsp:spPr>
        <a:xfrm>
          <a:off x="7430643" y="621784"/>
          <a:ext cx="3377565" cy="18928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Using the appropriate tools and techniques can significantly enhance the troubleshooting process and improve deployment efficiency.</a:t>
          </a:r>
        </a:p>
      </dsp:txBody>
      <dsp:txXfrm>
        <a:off x="7430643" y="621784"/>
        <a:ext cx="3377565" cy="1892815"/>
      </dsp:txXfrm>
    </dsp:sp>
  </dsp:spTree>
</dsp:drawing>
</file>

<file path=ppt/diagrams/layout1.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CA1A54-79C8-480C-98EA-139660683044}" type="datetimeFigureOut">
              <a:rPr lang="en-US" smtClean="0"/>
              <a:t>7/8/2025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26CAE9-8D11-4429-A28B-97BF6FBEE584}" type="slidenum">
              <a:rPr lang="en-US" smtClean="0"/>
              <a:t>‹#›</a:t>
            </a:fld>
            <a:endParaRPr lang="en-US"/>
          </a:p>
        </p:txBody>
      </p:sp>
    </p:spTree>
    <p:extLst>
      <p:ext uri="{BB962C8B-B14F-4D97-AF65-F5344CB8AC3E}">
        <p14:creationId xmlns:p14="http://schemas.microsoft.com/office/powerpoint/2010/main" val="39369670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Operating System Deployment (OSD) is vital for implementing and managing operating systems across multiple devices. In this presentation, we will explore various techniques and tools for troubleshooting OSD effectively.
</a:t>
            </a:r>
          </a:p>
        </p:txBody>
      </p:sp>
      <p:sp>
        <p:nvSpPr>
          <p:cNvPr id="4" name="Slide Number Placeholder 3"/>
          <p:cNvSpPr>
            <a:spLocks noGrp="1"/>
          </p:cNvSpPr>
          <p:nvPr>
            <p:ph type="sldNum" sz="quarter" idx="5"/>
          </p:nvPr>
        </p:nvSpPr>
        <p:spPr/>
        <p:txBody>
          <a:bodyPr/>
          <a:lstStyle/>
          <a:p>
            <a:fld id="{E1500BC0-6A88-4BAF-AC72-E3A00C1D9D29}" type="slidenum">
              <a:rPr lang="en-US" smtClean="0"/>
              <a:t>1</a:t>
            </a:fld>
            <a:endParaRPr lang="en-US"/>
          </a:p>
        </p:txBody>
      </p:sp>
    </p:spTree>
    <p:extLst>
      <p:ext uri="{BB962C8B-B14F-4D97-AF65-F5344CB8AC3E}">
        <p14:creationId xmlns:p14="http://schemas.microsoft.com/office/powerpoint/2010/main" val="10648738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presentation will cover the basics of Operating System Deployment, including the deployment phases and an introduction to OSD. We will then discuss troubleshooting techniques specific to Configuration Manager, common deployment issues, and useful debugging tools.</a:t>
            </a:r>
          </a:p>
        </p:txBody>
      </p:sp>
      <p:sp>
        <p:nvSpPr>
          <p:cNvPr id="4" name="Slide Number Placeholder 3"/>
          <p:cNvSpPr>
            <a:spLocks noGrp="1"/>
          </p:cNvSpPr>
          <p:nvPr>
            <p:ph type="sldNum" sz="quarter" idx="5"/>
          </p:nvPr>
        </p:nvSpPr>
        <p:spPr/>
        <p:txBody>
          <a:bodyPr/>
          <a:lstStyle/>
          <a:p>
            <a:fld id="{E1500BC0-6A88-4BAF-AC72-E3A00C1D9D29}" type="slidenum">
              <a:rPr lang="en-US" smtClean="0"/>
              <a:t>4</a:t>
            </a:fld>
            <a:endParaRPr lang="en-US"/>
          </a:p>
        </p:txBody>
      </p:sp>
    </p:spTree>
    <p:extLst>
      <p:ext uri="{BB962C8B-B14F-4D97-AF65-F5344CB8AC3E}">
        <p14:creationId xmlns:p14="http://schemas.microsoft.com/office/powerpoint/2010/main" val="41410097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Understanding the fundamentals of Operating System Deployment is essential for troubleshooting. We will explore the key phases involved in OSD and the tools used throughout the process.</a:t>
            </a:r>
          </a:p>
        </p:txBody>
      </p:sp>
      <p:sp>
        <p:nvSpPr>
          <p:cNvPr id="4" name="Slide Number Placeholder 3"/>
          <p:cNvSpPr>
            <a:spLocks noGrp="1"/>
          </p:cNvSpPr>
          <p:nvPr>
            <p:ph type="sldNum" sz="quarter" idx="5"/>
          </p:nvPr>
        </p:nvSpPr>
        <p:spPr/>
        <p:txBody>
          <a:bodyPr/>
          <a:lstStyle/>
          <a:p>
            <a:fld id="{E1500BC0-6A88-4BAF-AC72-E3A00C1D9D29}" type="slidenum">
              <a:rPr lang="en-US" smtClean="0"/>
              <a:t>6</a:t>
            </a:fld>
            <a:endParaRPr lang="en-US"/>
          </a:p>
        </p:txBody>
      </p:sp>
    </p:spTree>
    <p:extLst>
      <p:ext uri="{BB962C8B-B14F-4D97-AF65-F5344CB8AC3E}">
        <p14:creationId xmlns:p14="http://schemas.microsoft.com/office/powerpoint/2010/main" val="14416920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Operating System Deployment involves installing and configuring an operating system on multiple devices efficiently. It streamlines the deployment process, making it easier to manage large-scale installations.</a:t>
            </a:r>
          </a:p>
        </p:txBody>
      </p:sp>
      <p:sp>
        <p:nvSpPr>
          <p:cNvPr id="4" name="Slide Number Placeholder 3"/>
          <p:cNvSpPr>
            <a:spLocks noGrp="1"/>
          </p:cNvSpPr>
          <p:nvPr>
            <p:ph type="sldNum" sz="quarter" idx="5"/>
          </p:nvPr>
        </p:nvSpPr>
        <p:spPr/>
        <p:txBody>
          <a:bodyPr/>
          <a:lstStyle/>
          <a:p>
            <a:fld id="{E1500BC0-6A88-4BAF-AC72-E3A00C1D9D29}" type="slidenum">
              <a:rPr lang="en-US" smtClean="0"/>
              <a:t>7</a:t>
            </a:fld>
            <a:endParaRPr lang="en-US"/>
          </a:p>
        </p:txBody>
      </p:sp>
    </p:spTree>
    <p:extLst>
      <p:ext uri="{BB962C8B-B14F-4D97-AF65-F5344CB8AC3E}">
        <p14:creationId xmlns:p14="http://schemas.microsoft.com/office/powerpoint/2010/main" val="2073382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Windows Preinstallation Environment (WinPE) phase is the initial boot environment used to start the deployment process. This lightweight OS allows you to perform various installation tasks.</a:t>
            </a:r>
          </a:p>
        </p:txBody>
      </p:sp>
      <p:sp>
        <p:nvSpPr>
          <p:cNvPr id="4" name="Slide Number Placeholder 3"/>
          <p:cNvSpPr>
            <a:spLocks noGrp="1"/>
          </p:cNvSpPr>
          <p:nvPr>
            <p:ph type="sldNum" sz="quarter" idx="5"/>
          </p:nvPr>
        </p:nvSpPr>
        <p:spPr/>
        <p:txBody>
          <a:bodyPr/>
          <a:lstStyle/>
          <a:p>
            <a:fld id="{E1500BC0-6A88-4BAF-AC72-E3A00C1D9D29}" type="slidenum">
              <a:rPr lang="en-US" smtClean="0"/>
              <a:t>8</a:t>
            </a:fld>
            <a:endParaRPr lang="en-US"/>
          </a:p>
        </p:txBody>
      </p:sp>
    </p:spTree>
    <p:extLst>
      <p:ext uri="{BB962C8B-B14F-4D97-AF65-F5344CB8AC3E}">
        <p14:creationId xmlns:p14="http://schemas.microsoft.com/office/powerpoint/2010/main" val="34743564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the Specialize phase, hardware-specific settings are applied. This includes configuring network settings, joining domains, and setting up user accounts, ensuring the system is tailored to the specific hardware.</a:t>
            </a:r>
          </a:p>
        </p:txBody>
      </p:sp>
      <p:sp>
        <p:nvSpPr>
          <p:cNvPr id="4" name="Slide Number Placeholder 3"/>
          <p:cNvSpPr>
            <a:spLocks noGrp="1"/>
          </p:cNvSpPr>
          <p:nvPr>
            <p:ph type="sldNum" sz="quarter" idx="5"/>
          </p:nvPr>
        </p:nvSpPr>
        <p:spPr/>
        <p:txBody>
          <a:bodyPr/>
          <a:lstStyle/>
          <a:p>
            <a:fld id="{E1500BC0-6A88-4BAF-AC72-E3A00C1D9D29}" type="slidenum">
              <a:rPr lang="en-US" smtClean="0"/>
              <a:t>9</a:t>
            </a:fld>
            <a:endParaRPr lang="en-US"/>
          </a:p>
        </p:txBody>
      </p:sp>
    </p:spTree>
    <p:extLst>
      <p:ext uri="{BB962C8B-B14F-4D97-AF65-F5344CB8AC3E}">
        <p14:creationId xmlns:p14="http://schemas.microsoft.com/office/powerpoint/2010/main" val="7768322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Setup Complete phase finalizes the installation process. It runs last-minute configurations and prepares the system for first-time use by the end-users.</a:t>
            </a:r>
          </a:p>
        </p:txBody>
      </p:sp>
      <p:sp>
        <p:nvSpPr>
          <p:cNvPr id="4" name="Slide Number Placeholder 3"/>
          <p:cNvSpPr>
            <a:spLocks noGrp="1"/>
          </p:cNvSpPr>
          <p:nvPr>
            <p:ph type="sldNum" sz="quarter" idx="5"/>
          </p:nvPr>
        </p:nvSpPr>
        <p:spPr/>
        <p:txBody>
          <a:bodyPr/>
          <a:lstStyle/>
          <a:p>
            <a:fld id="{E1500BC0-6A88-4BAF-AC72-E3A00C1D9D29}" type="slidenum">
              <a:rPr lang="en-US" smtClean="0"/>
              <a:t>10</a:t>
            </a:fld>
            <a:endParaRPr lang="en-US"/>
          </a:p>
        </p:txBody>
      </p:sp>
    </p:spTree>
    <p:extLst>
      <p:ext uri="{BB962C8B-B14F-4D97-AF65-F5344CB8AC3E}">
        <p14:creationId xmlns:p14="http://schemas.microsoft.com/office/powerpoint/2010/main" val="21230279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Configuration Manager is a powerful tool for managing operating system deployments. Understanding its functionalities is essential for diagnosing and resolving OSD issues.</a:t>
            </a:r>
          </a:p>
        </p:txBody>
      </p:sp>
      <p:sp>
        <p:nvSpPr>
          <p:cNvPr id="4" name="Slide Number Placeholder 3"/>
          <p:cNvSpPr>
            <a:spLocks noGrp="1"/>
          </p:cNvSpPr>
          <p:nvPr>
            <p:ph type="sldNum" sz="quarter" idx="5"/>
          </p:nvPr>
        </p:nvSpPr>
        <p:spPr/>
        <p:txBody>
          <a:bodyPr/>
          <a:lstStyle/>
          <a:p>
            <a:fld id="{E1500BC0-6A88-4BAF-AC72-E3A00C1D9D29}" type="slidenum">
              <a:rPr lang="en-US" smtClean="0"/>
              <a:t>15</a:t>
            </a:fld>
            <a:endParaRPr lang="en-US"/>
          </a:p>
        </p:txBody>
      </p:sp>
    </p:spTree>
    <p:extLst>
      <p:ext uri="{BB962C8B-B14F-4D97-AF65-F5344CB8AC3E}">
        <p14:creationId xmlns:p14="http://schemas.microsoft.com/office/powerpoint/2010/main" val="36219135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Task sequences can often encounter issues during deployment. Common problems include misconfigurations, incorrect sequences, and missing drivers. Identifying these issues quickly is key to maintaining deployment efficiency.</a:t>
            </a:r>
          </a:p>
        </p:txBody>
      </p:sp>
      <p:sp>
        <p:nvSpPr>
          <p:cNvPr id="4" name="Slide Number Placeholder 3"/>
          <p:cNvSpPr>
            <a:spLocks noGrp="1"/>
          </p:cNvSpPr>
          <p:nvPr>
            <p:ph type="sldNum" sz="quarter" idx="5"/>
          </p:nvPr>
        </p:nvSpPr>
        <p:spPr/>
        <p:txBody>
          <a:bodyPr/>
          <a:lstStyle/>
          <a:p>
            <a:fld id="{E1500BC0-6A88-4BAF-AC72-E3A00C1D9D29}" type="slidenum">
              <a:rPr lang="en-US" smtClean="0"/>
              <a:t>16</a:t>
            </a:fld>
            <a:endParaRPr lang="en-US"/>
          </a:p>
        </p:txBody>
      </p:sp>
    </p:spTree>
    <p:extLst>
      <p:ext uri="{BB962C8B-B14F-4D97-AF65-F5344CB8AC3E}">
        <p14:creationId xmlns:p14="http://schemas.microsoft.com/office/powerpoint/2010/main" val="33726063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Despite careful planning, deployment issues can still arise. Identifying and resolving these common problems is essential for ensuring a smooth OSD process.</a:t>
            </a:r>
          </a:p>
        </p:txBody>
      </p:sp>
      <p:sp>
        <p:nvSpPr>
          <p:cNvPr id="4" name="Slide Number Placeholder 3"/>
          <p:cNvSpPr>
            <a:spLocks noGrp="1"/>
          </p:cNvSpPr>
          <p:nvPr>
            <p:ph type="sldNum" sz="quarter" idx="5"/>
          </p:nvPr>
        </p:nvSpPr>
        <p:spPr/>
        <p:txBody>
          <a:bodyPr/>
          <a:lstStyle/>
          <a:p>
            <a:fld id="{E1500BC0-6A88-4BAF-AC72-E3A00C1D9D29}" type="slidenum">
              <a:rPr lang="en-US" smtClean="0"/>
              <a:t>17</a:t>
            </a:fld>
            <a:endParaRPr lang="en-US"/>
          </a:p>
        </p:txBody>
      </p:sp>
    </p:spTree>
    <p:extLst>
      <p:ext uri="{BB962C8B-B14F-4D97-AF65-F5344CB8AC3E}">
        <p14:creationId xmlns:p14="http://schemas.microsoft.com/office/powerpoint/2010/main" val="12322167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Domain join issues are frequently encountered during OSD. These can arise from network connectivity problems, incorrect credentials, or domain policy settings that must be addressed for successful deployment.</a:t>
            </a:r>
          </a:p>
        </p:txBody>
      </p:sp>
      <p:sp>
        <p:nvSpPr>
          <p:cNvPr id="4" name="Slide Number Placeholder 3"/>
          <p:cNvSpPr>
            <a:spLocks noGrp="1"/>
          </p:cNvSpPr>
          <p:nvPr>
            <p:ph type="sldNum" sz="quarter" idx="5"/>
          </p:nvPr>
        </p:nvSpPr>
        <p:spPr/>
        <p:txBody>
          <a:bodyPr/>
          <a:lstStyle/>
          <a:p>
            <a:fld id="{E1500BC0-6A88-4BAF-AC72-E3A00C1D9D29}" type="slidenum">
              <a:rPr lang="en-US" smtClean="0"/>
              <a:t>18</a:t>
            </a:fld>
            <a:endParaRPr lang="en-US"/>
          </a:p>
        </p:txBody>
      </p:sp>
    </p:spTree>
    <p:extLst>
      <p:ext uri="{BB962C8B-B14F-4D97-AF65-F5344CB8AC3E}">
        <p14:creationId xmlns:p14="http://schemas.microsoft.com/office/powerpoint/2010/main" val="40442591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Driver-related problems can prevent successful deployment. Ensuring the correct drivers for targeted hardware are included in the deployment package is essential to avoid these issues.</a:t>
            </a:r>
          </a:p>
        </p:txBody>
      </p:sp>
      <p:sp>
        <p:nvSpPr>
          <p:cNvPr id="4" name="Slide Number Placeholder 3"/>
          <p:cNvSpPr>
            <a:spLocks noGrp="1"/>
          </p:cNvSpPr>
          <p:nvPr>
            <p:ph type="sldNum" sz="quarter" idx="5"/>
          </p:nvPr>
        </p:nvSpPr>
        <p:spPr/>
        <p:txBody>
          <a:bodyPr/>
          <a:lstStyle/>
          <a:p>
            <a:fld id="{E1500BC0-6A88-4BAF-AC72-E3A00C1D9D29}" type="slidenum">
              <a:rPr lang="en-US" smtClean="0"/>
              <a:t>19</a:t>
            </a:fld>
            <a:endParaRPr lang="en-US"/>
          </a:p>
        </p:txBody>
      </p:sp>
    </p:spTree>
    <p:extLst>
      <p:ext uri="{BB962C8B-B14F-4D97-AF65-F5344CB8AC3E}">
        <p14:creationId xmlns:p14="http://schemas.microsoft.com/office/powerpoint/2010/main" val="8607651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60FA9-9C9D-5251-0A44-B453A502AA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E585EE-AA4B-4189-707C-AB4A0C2BFC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87AF2-6A7B-FA95-80FA-DEA4CC70E88B}"/>
              </a:ext>
            </a:extLst>
          </p:cNvPr>
          <p:cNvSpPr>
            <a:spLocks noGrp="1"/>
          </p:cNvSpPr>
          <p:nvPr>
            <p:ph type="body" idx="1"/>
          </p:nvPr>
        </p:nvSpPr>
        <p:spPr/>
        <p:txBody>
          <a:bodyPr/>
          <a:lstStyle/>
          <a:p>
            <a:r>
              <a:rPr lang="en-US" dirty="0"/>
              <a:t>Driver-related problems can prevent successful deployment. Ensuring the correct drivers for targeted hardware are included in the deployment package is essential to avoid these issues.</a:t>
            </a:r>
          </a:p>
        </p:txBody>
      </p:sp>
      <p:sp>
        <p:nvSpPr>
          <p:cNvPr id="4" name="Slide Number Placeholder 3">
            <a:extLst>
              <a:ext uri="{FF2B5EF4-FFF2-40B4-BE49-F238E27FC236}">
                <a16:creationId xmlns:a16="http://schemas.microsoft.com/office/drawing/2014/main" id="{E83056BF-5DD4-682A-84E5-F36420C4C854}"/>
              </a:ext>
            </a:extLst>
          </p:cNvPr>
          <p:cNvSpPr>
            <a:spLocks noGrp="1"/>
          </p:cNvSpPr>
          <p:nvPr>
            <p:ph type="sldNum" sz="quarter" idx="5"/>
          </p:nvPr>
        </p:nvSpPr>
        <p:spPr/>
        <p:txBody>
          <a:bodyPr/>
          <a:lstStyle/>
          <a:p>
            <a:fld id="{E1500BC0-6A88-4BAF-AC72-E3A00C1D9D29}" type="slidenum">
              <a:rPr lang="en-US" smtClean="0"/>
              <a:t>20</a:t>
            </a:fld>
            <a:endParaRPr lang="en-US"/>
          </a:p>
        </p:txBody>
      </p:sp>
    </p:spTree>
    <p:extLst>
      <p:ext uri="{BB962C8B-B14F-4D97-AF65-F5344CB8AC3E}">
        <p14:creationId xmlns:p14="http://schemas.microsoft.com/office/powerpoint/2010/main" val="16820819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hardware used can greatly affect OSD outcomes. Compatibility issues, performance limitations, and specific hardware settings should be reviewed to ensure successful deployment.</a:t>
            </a:r>
          </a:p>
        </p:txBody>
      </p:sp>
      <p:sp>
        <p:nvSpPr>
          <p:cNvPr id="4" name="Slide Number Placeholder 3"/>
          <p:cNvSpPr>
            <a:spLocks noGrp="1"/>
          </p:cNvSpPr>
          <p:nvPr>
            <p:ph type="sldNum" sz="quarter" idx="5"/>
          </p:nvPr>
        </p:nvSpPr>
        <p:spPr/>
        <p:txBody>
          <a:bodyPr/>
          <a:lstStyle/>
          <a:p>
            <a:fld id="{E1500BC0-6A88-4BAF-AC72-E3A00C1D9D29}" type="slidenum">
              <a:rPr lang="en-US" smtClean="0"/>
              <a:t>21</a:t>
            </a:fld>
            <a:endParaRPr lang="en-US"/>
          </a:p>
        </p:txBody>
      </p:sp>
    </p:spTree>
    <p:extLst>
      <p:ext uri="{BB962C8B-B14F-4D97-AF65-F5344CB8AC3E}">
        <p14:creationId xmlns:p14="http://schemas.microsoft.com/office/powerpoint/2010/main" val="4271810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Debugging tools are invaluable when troubleshooting OSD. They help identify and resolve issues effectively, ensuring smooth deployment operations.</a:t>
            </a:r>
          </a:p>
        </p:txBody>
      </p:sp>
      <p:sp>
        <p:nvSpPr>
          <p:cNvPr id="4" name="Slide Number Placeholder 3"/>
          <p:cNvSpPr>
            <a:spLocks noGrp="1"/>
          </p:cNvSpPr>
          <p:nvPr>
            <p:ph type="sldNum" sz="quarter" idx="5"/>
          </p:nvPr>
        </p:nvSpPr>
        <p:spPr/>
        <p:txBody>
          <a:bodyPr/>
          <a:lstStyle/>
          <a:p>
            <a:fld id="{E1500BC0-6A88-4BAF-AC72-E3A00C1D9D29}" type="slidenum">
              <a:rPr lang="en-US" smtClean="0"/>
              <a:t>22</a:t>
            </a:fld>
            <a:endParaRPr lang="en-US"/>
          </a:p>
        </p:txBody>
      </p:sp>
    </p:spTree>
    <p:extLst>
      <p:ext uri="{BB962C8B-B14F-4D97-AF65-F5344CB8AC3E}">
        <p14:creationId xmlns:p14="http://schemas.microsoft.com/office/powerpoint/2010/main" val="32012807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OSD Debugging Tools facilitate the identification of issues during the deployment process. They provide insights into the deployment environment and help diagnose problems effectively.</a:t>
            </a:r>
          </a:p>
        </p:txBody>
      </p:sp>
      <p:sp>
        <p:nvSpPr>
          <p:cNvPr id="4" name="Slide Number Placeholder 3"/>
          <p:cNvSpPr>
            <a:spLocks noGrp="1"/>
          </p:cNvSpPr>
          <p:nvPr>
            <p:ph type="sldNum" sz="quarter" idx="5"/>
          </p:nvPr>
        </p:nvSpPr>
        <p:spPr/>
        <p:txBody>
          <a:bodyPr/>
          <a:lstStyle/>
          <a:p>
            <a:fld id="{E1500BC0-6A88-4BAF-AC72-E3A00C1D9D29}" type="slidenum">
              <a:rPr lang="en-US" smtClean="0"/>
              <a:t>23</a:t>
            </a:fld>
            <a:endParaRPr lang="en-US"/>
          </a:p>
        </p:txBody>
      </p:sp>
    </p:spTree>
    <p:extLst>
      <p:ext uri="{BB962C8B-B14F-4D97-AF65-F5344CB8AC3E}">
        <p14:creationId xmlns:p14="http://schemas.microsoft.com/office/powerpoint/2010/main" val="39155684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Testing scripts during the WinPE phase and in the fully deployed OS is crucial for identifying potential errors. This proactive approach ensures a more reliable OSD process.</a:t>
            </a:r>
          </a:p>
        </p:txBody>
      </p:sp>
      <p:sp>
        <p:nvSpPr>
          <p:cNvPr id="4" name="Slide Number Placeholder 3"/>
          <p:cNvSpPr>
            <a:spLocks noGrp="1"/>
          </p:cNvSpPr>
          <p:nvPr>
            <p:ph type="sldNum" sz="quarter" idx="5"/>
          </p:nvPr>
        </p:nvSpPr>
        <p:spPr/>
        <p:txBody>
          <a:bodyPr/>
          <a:lstStyle/>
          <a:p>
            <a:fld id="{E1500BC0-6A88-4BAF-AC72-E3A00C1D9D29}" type="slidenum">
              <a:rPr lang="en-US" smtClean="0"/>
              <a:t>24</a:t>
            </a:fld>
            <a:endParaRPr lang="en-US"/>
          </a:p>
        </p:txBody>
      </p:sp>
    </p:spTree>
    <p:extLst>
      <p:ext uri="{BB962C8B-B14F-4D97-AF65-F5344CB8AC3E}">
        <p14:creationId xmlns:p14="http://schemas.microsoft.com/office/powerpoint/2010/main" val="31667210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conclusion, effective troubleshooting of Operating System Deployment involves understanding its phases, common issues, and utilizing the right tools. By applying the techniques discussed, IT professionals can significantly enhance their deployment processes.</a:t>
            </a:r>
          </a:p>
        </p:txBody>
      </p:sp>
      <p:sp>
        <p:nvSpPr>
          <p:cNvPr id="4" name="Slide Number Placeholder 3"/>
          <p:cNvSpPr>
            <a:spLocks noGrp="1"/>
          </p:cNvSpPr>
          <p:nvPr>
            <p:ph type="sldNum" sz="quarter" idx="5"/>
          </p:nvPr>
        </p:nvSpPr>
        <p:spPr/>
        <p:txBody>
          <a:bodyPr/>
          <a:lstStyle/>
          <a:p>
            <a:fld id="{E1500BC0-6A88-4BAF-AC72-E3A00C1D9D29}" type="slidenum">
              <a:rPr lang="en-US" smtClean="0"/>
              <a:t>25</a:t>
            </a:fld>
            <a:endParaRPr lang="en-US"/>
          </a:p>
        </p:txBody>
      </p:sp>
    </p:spTree>
    <p:extLst>
      <p:ext uri="{BB962C8B-B14F-4D97-AF65-F5344CB8AC3E}">
        <p14:creationId xmlns:p14="http://schemas.microsoft.com/office/powerpoint/2010/main" val="2465220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7/8/2025</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8242670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7/8/2025</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8011672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7/8/2025</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01265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7/8/2025</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5790228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7/8/2025</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2689198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7/8/2025</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6687388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7/8/2025</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0633004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7/8/2025</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2994311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7/8/2025</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4295349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7/8/2025</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4083026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7/8/2025</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26221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7/8/2025</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143339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hyperlink" Target="https://uclswiftna.com/have-you-got-questions-weve-got-answers/" TargetMode="External"/><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hyperlink" Target="https://www.recastsoftware.com/resources/configmgr-docs/task-sequence-basics/task-sequence-steps/settings/capture-network-settings/" TargetMode="External"/><Relationship Id="rId7" Type="http://schemas.openxmlformats.org/officeDocument/2006/relationships/image" Target="../media/image9.png"/><Relationship Id="rId2" Type="http://schemas.openxmlformats.org/officeDocument/2006/relationships/hyperlink" Target="https://www.recastsoftware.com/resources/configmgr-docs/task-sequence-basics/task-sequence-steps/settings/capture-apply-settings-combined/" TargetMode="External"/><Relationship Id="rId1" Type="http://schemas.openxmlformats.org/officeDocument/2006/relationships/slideLayout" Target="../slideLayouts/slideLayout4.xml"/><Relationship Id="rId6" Type="http://schemas.openxmlformats.org/officeDocument/2006/relationships/hyperlink" Target="https://www.recastsoftware.com/resources/configmgr-docs/task-sequence-basics/task-sequence-steps/settings/apply-windows-settings/" TargetMode="External"/><Relationship Id="rId5" Type="http://schemas.openxmlformats.org/officeDocument/2006/relationships/hyperlink" Target="https://www.recastsoftware.com/resources/configmgr-docs/task-sequence-basics/task-sequence-steps/settings/apply-network-settings/" TargetMode="External"/><Relationship Id="rId4" Type="http://schemas.openxmlformats.org/officeDocument/2006/relationships/hyperlink" Target="https://www.recastsoftware.com/resources/configmgr-docs/task-sequence-basics/task-sequence-steps/settings/capture-windows-settings/"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hyperlink" Target="https://garytown.com/dism-apply-drivers-tsprogressui-subbar" TargetMode="External"/><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hyperlink" Target="https://developers.hp.com/hp-client-management/blog/new-combined-driver-and-uwp-hsa-packs" TargetMode="Externa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pic>
        <p:nvPicPr>
          <p:cNvPr id="4" name="Picture 3" descr="Close up of an engineer examining circuit board on digital tablet">
            <a:extLst>
              <a:ext uri="{FF2B5EF4-FFF2-40B4-BE49-F238E27FC236}">
                <a16:creationId xmlns:a16="http://schemas.microsoft.com/office/drawing/2014/main" id="{7CF4CAC5-6B47-45AE-9B0F-7E54C523AAD0}"/>
              </a:ext>
            </a:extLst>
          </p:cNvPr>
          <p:cNvPicPr>
            <a:picLocks noChangeAspect="1"/>
          </p:cNvPicPr>
          <p:nvPr/>
        </p:nvPicPr>
        <p:blipFill>
          <a:blip r:embed="rId3"/>
          <a:srcRect t="16807" r="9091" b="6584"/>
          <a:stretch>
            <a:fillRect/>
          </a:stretch>
        </p:blipFill>
        <p:spPr>
          <a:xfrm>
            <a:off x="1" y="1"/>
            <a:ext cx="12191999" cy="6857999"/>
          </a:xfrm>
          <a:prstGeom prst="rect">
            <a:avLst/>
          </a:prstGeom>
        </p:spPr>
      </p:pic>
      <p:sp>
        <p:nvSpPr>
          <p:cNvPr id="11" name="Rectangle 10">
            <a:extLst>
              <a:ext uri="{FF2B5EF4-FFF2-40B4-BE49-F238E27FC236}">
                <a16:creationId xmlns:a16="http://schemas.microsoft.com/office/drawing/2014/main" id="{72E284DE-AB43-1296-3166-892F44A3A2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3183" y="173181"/>
            <a:ext cx="6858002" cy="6511640"/>
          </a:xfrm>
          <a:prstGeom prst="rect">
            <a:avLst/>
          </a:prstGeom>
          <a:gradFill>
            <a:gsLst>
              <a:gs pos="0">
                <a:schemeClr val="bg1">
                  <a:alpha val="0"/>
                </a:schemeClr>
              </a:gs>
              <a:gs pos="46000">
                <a:schemeClr val="bg1">
                  <a:alpha val="30000"/>
                </a:schemeClr>
              </a:gs>
              <a:gs pos="26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7EE041BB-2863-DC95-DD91-A0855527DBFC}"/>
              </a:ext>
            </a:extLst>
          </p:cNvPr>
          <p:cNvSpPr>
            <a:spLocks noGrp="1"/>
          </p:cNvSpPr>
          <p:nvPr>
            <p:ph type="ctrTitle"/>
          </p:nvPr>
        </p:nvSpPr>
        <p:spPr>
          <a:xfrm>
            <a:off x="457195" y="701964"/>
            <a:ext cx="5370950" cy="3640303"/>
          </a:xfrm>
        </p:spPr>
        <p:txBody>
          <a:bodyPr anchor="t">
            <a:normAutofit/>
          </a:bodyPr>
          <a:lstStyle/>
          <a:p>
            <a:pPr>
              <a:lnSpc>
                <a:spcPct val="90000"/>
              </a:lnSpc>
            </a:pPr>
            <a:r>
              <a:rPr lang="en-US" sz="5100">
                <a:solidFill>
                  <a:srgbClr val="FFFFFF"/>
                </a:solidFill>
              </a:rPr>
              <a:t>Troubleshooting Operating System Deployment: Techniques and Tools</a:t>
            </a:r>
          </a:p>
        </p:txBody>
      </p:sp>
      <p:sp>
        <p:nvSpPr>
          <p:cNvPr id="3" name="Subtitle 2">
            <a:extLst>
              <a:ext uri="{FF2B5EF4-FFF2-40B4-BE49-F238E27FC236}">
                <a16:creationId xmlns:a16="http://schemas.microsoft.com/office/drawing/2014/main" id="{8B97F957-3C15-2BF2-2E35-025EEB8C184C}"/>
              </a:ext>
            </a:extLst>
          </p:cNvPr>
          <p:cNvSpPr>
            <a:spLocks noGrp="1"/>
          </p:cNvSpPr>
          <p:nvPr>
            <p:ph type="subTitle" idx="1"/>
          </p:nvPr>
        </p:nvSpPr>
        <p:spPr>
          <a:xfrm>
            <a:off x="468090" y="5253050"/>
            <a:ext cx="3888419" cy="969264"/>
          </a:xfrm>
        </p:spPr>
        <p:txBody>
          <a:bodyPr anchor="t">
            <a:normAutofit/>
          </a:bodyPr>
          <a:lstStyle/>
          <a:p>
            <a:pPr>
              <a:lnSpc>
                <a:spcPct val="120000"/>
              </a:lnSpc>
            </a:pPr>
            <a:r>
              <a:rPr lang="en-US" sz="1600">
                <a:solidFill>
                  <a:srgbClr val="FFFFFF"/>
                </a:solidFill>
              </a:rPr>
              <a:t>Effective methods for managing OS deployment issues</a:t>
            </a:r>
          </a:p>
        </p:txBody>
      </p:sp>
      <p:cxnSp>
        <p:nvCxnSpPr>
          <p:cNvPr id="13" name="Straight Connector 12">
            <a:extLst>
              <a:ext uri="{FF2B5EF4-FFF2-40B4-BE49-F238E27FC236}">
                <a16:creationId xmlns:a16="http://schemas.microsoft.com/office/drawing/2014/main" id="{97CC2FE6-3AD0-4131-B4BC-1F4D65E25E1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0329" y="4861206"/>
            <a:ext cx="978862"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861185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42"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41157-0C07-EBA2-94C2-69DCE49EBC50}"/>
              </a:ext>
            </a:extLst>
          </p:cNvPr>
          <p:cNvSpPr>
            <a:spLocks noGrp="1"/>
          </p:cNvSpPr>
          <p:nvPr>
            <p:ph type="title"/>
          </p:nvPr>
        </p:nvSpPr>
        <p:spPr>
          <a:xfrm>
            <a:off x="577017" y="217565"/>
            <a:ext cx="10890929" cy="1097280"/>
          </a:xfrm>
        </p:spPr>
        <p:txBody>
          <a:bodyPr/>
          <a:lstStyle/>
          <a:p>
            <a:r>
              <a:rPr lang="en-US" dirty="0"/>
              <a:t>Who R we, and why do we come so </a:t>
            </a:r>
            <a:r>
              <a:rPr lang="en-US" dirty="0" err="1"/>
              <a:t>faR</a:t>
            </a:r>
            <a:endParaRPr lang="en-US" dirty="0"/>
          </a:p>
        </p:txBody>
      </p:sp>
      <p:sp>
        <p:nvSpPr>
          <p:cNvPr id="3" name="Content Placeholder 2">
            <a:extLst>
              <a:ext uri="{FF2B5EF4-FFF2-40B4-BE49-F238E27FC236}">
                <a16:creationId xmlns:a16="http://schemas.microsoft.com/office/drawing/2014/main" id="{91BD4CF3-0DEB-E180-7EB8-9F62D22F9A6D}"/>
              </a:ext>
            </a:extLst>
          </p:cNvPr>
          <p:cNvSpPr>
            <a:spLocks noGrp="1"/>
          </p:cNvSpPr>
          <p:nvPr>
            <p:ph idx="1"/>
          </p:nvPr>
        </p:nvSpPr>
        <p:spPr>
          <a:xfrm>
            <a:off x="640080" y="1314845"/>
            <a:ext cx="7677807" cy="4884787"/>
          </a:xfrm>
        </p:spPr>
        <p:txBody>
          <a:bodyPr>
            <a:normAutofit/>
          </a:bodyPr>
          <a:lstStyle/>
          <a:p>
            <a:r>
              <a:rPr lang="en-US" dirty="0"/>
              <a:t>Today, we left </a:t>
            </a:r>
            <a:r>
              <a:rPr lang="en-US" dirty="0" err="1"/>
              <a:t>earlieR</a:t>
            </a:r>
            <a:r>
              <a:rPr lang="en-US" dirty="0"/>
              <a:t> than normal to make it here.  Matt &amp; Gary according Grok:</a:t>
            </a:r>
            <a:br>
              <a:rPr lang="en-US" dirty="0"/>
            </a:br>
            <a:br>
              <a:rPr lang="en-US" dirty="0"/>
            </a:br>
            <a:r>
              <a:rPr lang="en-US" dirty="0">
                <a:solidFill>
                  <a:srgbClr val="000000"/>
                </a:solidFill>
                <a:effectLst/>
                <a:latin typeface="Arial" panose="020B0604020202020204" pitchFamily="34" charset="0"/>
              </a:rPr>
              <a:t>Gary Blok and Matt </a:t>
            </a:r>
            <a:r>
              <a:rPr lang="en-US" dirty="0" err="1">
                <a:solidFill>
                  <a:srgbClr val="000000"/>
                </a:solidFill>
                <a:effectLst/>
                <a:latin typeface="Arial" panose="020B0604020202020204" pitchFamily="34" charset="0"/>
              </a:rPr>
              <a:t>Zaske</a:t>
            </a:r>
            <a:r>
              <a:rPr lang="en-US" dirty="0">
                <a:solidFill>
                  <a:srgbClr val="000000"/>
                </a:solidFill>
                <a:effectLst/>
                <a:latin typeface="Arial" panose="020B0604020202020204" pitchFamily="34" charset="0"/>
              </a:rPr>
              <a:t> are IT professionals with deep expertise in Microsoft Configuration Manager, automation, and task sequences. They likely presented together at MMS MOA 2025 due to their shared knowledge, prior collaboration on technical solutions, and commitment to the systems management community. Their joint session on Task Sequences would have provided practical, actionable insights for IT administrators, drawing on their extensive experience and complementary skill sets.</a:t>
            </a:r>
          </a:p>
          <a:p>
            <a:endParaRPr lang="en-US" dirty="0"/>
          </a:p>
        </p:txBody>
      </p:sp>
      <p:sp>
        <p:nvSpPr>
          <p:cNvPr id="4" name="TextBox 3">
            <a:extLst>
              <a:ext uri="{FF2B5EF4-FFF2-40B4-BE49-F238E27FC236}">
                <a16:creationId xmlns:a16="http://schemas.microsoft.com/office/drawing/2014/main" id="{968D7C67-0EAE-FAD0-8D2D-BF24702954A2}"/>
              </a:ext>
            </a:extLst>
          </p:cNvPr>
          <p:cNvSpPr txBox="1"/>
          <p:nvPr/>
        </p:nvSpPr>
        <p:spPr>
          <a:xfrm>
            <a:off x="9074632" y="1762586"/>
            <a:ext cx="2825180" cy="4247317"/>
          </a:xfrm>
          <a:prstGeom prst="rect">
            <a:avLst/>
          </a:prstGeom>
          <a:noFill/>
        </p:spPr>
        <p:txBody>
          <a:bodyPr wrap="square" rtlCol="0">
            <a:spAutoFit/>
          </a:bodyPr>
          <a:lstStyle/>
          <a:p>
            <a:r>
              <a:rPr lang="en-US" b="1" dirty="0"/>
              <a:t>Known for:</a:t>
            </a:r>
          </a:p>
          <a:p>
            <a:br>
              <a:rPr lang="en-US" dirty="0"/>
            </a:br>
            <a:r>
              <a:rPr lang="en-US" dirty="0"/>
              <a:t>Matt: Wearing Lederhosen, Home Assistant, Enjoys quality beer.  Oh yeah, unique facial hair</a:t>
            </a:r>
          </a:p>
          <a:p>
            <a:br>
              <a:rPr lang="en-US" dirty="0"/>
            </a:br>
            <a:r>
              <a:rPr lang="en-US" dirty="0"/>
              <a:t>Gary: Drives Bus due to family size, lives in compound.  Drinks sparkling water</a:t>
            </a:r>
          </a:p>
          <a:p>
            <a:endParaRPr lang="en-US" dirty="0"/>
          </a:p>
          <a:p>
            <a:endParaRPr lang="en-US" dirty="0"/>
          </a:p>
          <a:p>
            <a:endParaRPr lang="en-US" dirty="0"/>
          </a:p>
        </p:txBody>
      </p:sp>
    </p:spTree>
    <p:extLst>
      <p:ext uri="{BB962C8B-B14F-4D97-AF65-F5344CB8AC3E}">
        <p14:creationId xmlns:p14="http://schemas.microsoft.com/office/powerpoint/2010/main" val="38580821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BFCBF-8C65-4098-6839-8B7C6C4E6927}"/>
              </a:ext>
            </a:extLst>
          </p:cNvPr>
          <p:cNvSpPr>
            <a:spLocks noGrp="1"/>
          </p:cNvSpPr>
          <p:nvPr>
            <p:ph type="title"/>
          </p:nvPr>
        </p:nvSpPr>
        <p:spPr/>
        <p:txBody>
          <a:bodyPr/>
          <a:lstStyle/>
          <a:p>
            <a:r>
              <a:rPr lang="en-US" dirty="0"/>
              <a:t>THANK YOU	</a:t>
            </a:r>
          </a:p>
        </p:txBody>
      </p:sp>
      <p:sp>
        <p:nvSpPr>
          <p:cNvPr id="3" name="Content Placeholder 2">
            <a:extLst>
              <a:ext uri="{FF2B5EF4-FFF2-40B4-BE49-F238E27FC236}">
                <a16:creationId xmlns:a16="http://schemas.microsoft.com/office/drawing/2014/main" id="{B4019840-C15F-A80F-2B69-ED9F047B3C4A}"/>
              </a:ext>
            </a:extLst>
          </p:cNvPr>
          <p:cNvSpPr>
            <a:spLocks noGrp="1"/>
          </p:cNvSpPr>
          <p:nvPr>
            <p:ph idx="1"/>
          </p:nvPr>
        </p:nvSpPr>
        <p:spPr/>
        <p:txBody>
          <a:bodyPr/>
          <a:lstStyle/>
          <a:p>
            <a:r>
              <a:rPr lang="en-US" dirty="0"/>
              <a:t>Time is valuable, thanks for sharing it with us. </a:t>
            </a:r>
          </a:p>
        </p:txBody>
      </p:sp>
    </p:spTree>
    <p:extLst>
      <p:ext uri="{BB962C8B-B14F-4D97-AF65-F5344CB8AC3E}">
        <p14:creationId xmlns:p14="http://schemas.microsoft.com/office/powerpoint/2010/main" val="30844064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44F570-2311-4402-7ABA-D7F055937587}"/>
              </a:ext>
            </a:extLst>
          </p:cNvPr>
          <p:cNvSpPr>
            <a:spLocks noGrp="1"/>
          </p:cNvSpPr>
          <p:nvPr>
            <p:ph type="title"/>
          </p:nvPr>
        </p:nvSpPr>
        <p:spPr>
          <a:xfrm>
            <a:off x="7269904" y="914400"/>
            <a:ext cx="4261104" cy="1097280"/>
          </a:xfrm>
        </p:spPr>
        <p:txBody>
          <a:bodyPr vert="horz" lIns="91440" tIns="45720" rIns="91440" bIns="45720" rtlCol="0" anchor="t">
            <a:normAutofit/>
          </a:bodyPr>
          <a:lstStyle/>
          <a:p>
            <a:r>
              <a:rPr lang="en-US" sz="3300"/>
              <a:t>Agenda for Operating System Deployment</a:t>
            </a:r>
          </a:p>
        </p:txBody>
      </p:sp>
      <p:pic>
        <p:nvPicPr>
          <p:cNvPr id="5" name="Content Placeholder 4" descr="Cloud Computing Concept">
            <a:extLst>
              <a:ext uri="{FF2B5EF4-FFF2-40B4-BE49-F238E27FC236}">
                <a16:creationId xmlns:a16="http://schemas.microsoft.com/office/drawing/2014/main" id="{128ED837-A04F-4FD6-B4F5-B5889BD8AA67}"/>
              </a:ext>
            </a:extLst>
          </p:cNvPr>
          <p:cNvPicPr>
            <a:picLocks noGrp="1" noChangeAspect="1"/>
          </p:cNvPicPr>
          <p:nvPr>
            <p:ph sz="half" idx="1"/>
          </p:nvPr>
        </p:nvPicPr>
        <p:blipFill>
          <a:blip r:embed="rId3"/>
          <a:srcRect l="440" r="6295"/>
          <a:stretch>
            <a:fillRect/>
          </a:stretch>
        </p:blipFill>
        <p:spPr>
          <a:xfrm>
            <a:off x="-1" y="914399"/>
            <a:ext cx="6657255"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665683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3A7DC59B-67BF-FBD6-2EF9-76ED2621245A}"/>
              </a:ext>
            </a:extLst>
          </p:cNvPr>
          <p:cNvSpPr>
            <a:spLocks noGrp="1"/>
          </p:cNvSpPr>
          <p:nvPr>
            <p:ph sz="half" idx="2"/>
            <p:extLst>
              <p:ext uri="{E7BDC344-281C-4309-B0C6-D0EE65EED2A8}">
                <p202:designPr xmlns:p202="http://schemas.microsoft.com/office/powerpoint/2020/02/main" xmlns="">
                  <p202:designTagLst>
                    <p202:designTag name="ARCH:1:CLS" val="BulletedText"/>
                  </p202:designTagLst>
                </p202:designPr>
              </p:ext>
            </p:extLst>
          </p:nvPr>
        </p:nvSpPr>
        <p:spPr>
          <a:xfrm>
            <a:off x="7269905" y="2176036"/>
            <a:ext cx="4261104" cy="4121887"/>
          </a:xfrm>
        </p:spPr>
        <p:txBody>
          <a:bodyPr vert="horz" lIns="91440" tIns="45720" rIns="91440" bIns="45720" rtlCol="0">
            <a:normAutofit/>
          </a:bodyPr>
          <a:lstStyle/>
          <a:p>
            <a:r>
              <a:rPr lang="en-US" dirty="0"/>
              <a:t>Ask Us Anything… (OSD)</a:t>
            </a:r>
          </a:p>
          <a:p>
            <a:r>
              <a:rPr lang="en-US" dirty="0"/>
              <a:t>Basics of Operating System Deployment (OSD)</a:t>
            </a:r>
          </a:p>
          <a:p>
            <a:r>
              <a:rPr lang="en-US" dirty="0"/>
              <a:t>Configuration Manager OSD Troubleshooting</a:t>
            </a:r>
          </a:p>
          <a:p>
            <a:r>
              <a:rPr lang="en-US" dirty="0"/>
              <a:t>Common Deployment Issues</a:t>
            </a:r>
          </a:p>
          <a:p>
            <a:r>
              <a:rPr lang="en-US" dirty="0"/>
              <a:t>OSD Debugging Tools</a:t>
            </a:r>
          </a:p>
        </p:txBody>
      </p:sp>
    </p:spTree>
    <p:extLst>
      <p:ext uri="{BB962C8B-B14F-4D97-AF65-F5344CB8AC3E}">
        <p14:creationId xmlns:p14="http://schemas.microsoft.com/office/powerpoint/2010/main" val="4467839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EF92585-7A99-6108-9663-8C59032742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46A56C4C-2D0A-F9A2-9EC6-10F6259A550C}"/>
              </a:ext>
            </a:extLst>
          </p:cNvPr>
          <p:cNvSpPr>
            <a:spLocks noGrp="1"/>
          </p:cNvSpPr>
          <p:nvPr>
            <p:ph type="title"/>
          </p:nvPr>
        </p:nvSpPr>
        <p:spPr>
          <a:xfrm>
            <a:off x="941072" y="1052141"/>
            <a:ext cx="4265763" cy="1611905"/>
          </a:xfrm>
        </p:spPr>
        <p:txBody>
          <a:bodyPr anchor="t">
            <a:normAutofit/>
          </a:bodyPr>
          <a:lstStyle/>
          <a:p>
            <a:pPr>
              <a:lnSpc>
                <a:spcPct val="90000"/>
              </a:lnSpc>
            </a:pPr>
            <a:r>
              <a:rPr lang="en-US" sz="3700" dirty="0"/>
              <a:t>ASK US ANYTHING OSD…..</a:t>
            </a:r>
          </a:p>
        </p:txBody>
      </p:sp>
      <p:sp>
        <p:nvSpPr>
          <p:cNvPr id="3" name="Content Placeholder 2">
            <a:extLst>
              <a:ext uri="{FF2B5EF4-FFF2-40B4-BE49-F238E27FC236}">
                <a16:creationId xmlns:a16="http://schemas.microsoft.com/office/drawing/2014/main" id="{AA94BAD6-C3E4-ED92-2AE1-3D71F5285160}"/>
              </a:ext>
            </a:extLst>
          </p:cNvPr>
          <p:cNvSpPr>
            <a:spLocks noGrp="1"/>
          </p:cNvSpPr>
          <p:nvPr>
            <p:ph idx="1"/>
          </p:nvPr>
        </p:nvSpPr>
        <p:spPr>
          <a:xfrm>
            <a:off x="5871353" y="1326911"/>
            <a:ext cx="5269831" cy="4750755"/>
          </a:xfrm>
        </p:spPr>
        <p:txBody>
          <a:bodyPr>
            <a:normAutofit fontScale="62500" lnSpcReduction="20000"/>
          </a:bodyPr>
          <a:lstStyle/>
          <a:p>
            <a:r>
              <a:rPr lang="en-US" sz="5900" dirty="0"/>
              <a:t>Hey, we have a presentation, but we’d like to tailor our session to what you need…  if we’re already covering it, great, if not… maybe we will…</a:t>
            </a:r>
          </a:p>
          <a:p>
            <a:endParaRPr lang="en-US" sz="2200" dirty="0"/>
          </a:p>
          <a:p>
            <a:endParaRPr lang="en-US" sz="2200" dirty="0"/>
          </a:p>
        </p:txBody>
      </p:sp>
      <p:pic>
        <p:nvPicPr>
          <p:cNvPr id="5" name="Picture 4" descr="A yellow question mark in a pile of black question marks&#10;&#10;Description automatically generated">
            <a:extLst>
              <a:ext uri="{FF2B5EF4-FFF2-40B4-BE49-F238E27FC236}">
                <a16:creationId xmlns:a16="http://schemas.microsoft.com/office/drawing/2014/main" id="{71254A93-6D73-F9E9-C01D-E25C2ED1EE2B}"/>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21765" y="2578196"/>
            <a:ext cx="5249588" cy="2952893"/>
          </a:xfrm>
          <a:prstGeom prst="rect">
            <a:avLst/>
          </a:prstGeom>
        </p:spPr>
      </p:pic>
    </p:spTree>
    <p:extLst>
      <p:ext uri="{BB962C8B-B14F-4D97-AF65-F5344CB8AC3E}">
        <p14:creationId xmlns:p14="http://schemas.microsoft.com/office/powerpoint/2010/main" val="3435424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6B9231A-B34B-4A29-A6AC-532E1EE81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6E668B5F-23A5-0DD6-443F-F70D18647187}"/>
              </a:ext>
            </a:extLst>
          </p:cNvPr>
          <p:cNvSpPr>
            <a:spLocks noGrp="1"/>
          </p:cNvSpPr>
          <p:nvPr>
            <p:ph type="ctrTitle"/>
          </p:nvPr>
        </p:nvSpPr>
        <p:spPr>
          <a:xfrm>
            <a:off x="559219" y="1115844"/>
            <a:ext cx="7680960" cy="4631911"/>
          </a:xfrm>
        </p:spPr>
        <p:txBody>
          <a:bodyPr anchor="b">
            <a:normAutofit/>
          </a:bodyPr>
          <a:lstStyle/>
          <a:p>
            <a:r>
              <a:rPr lang="en-US" sz="6500"/>
              <a:t>Basics of Operating System Deployment (OSD)</a:t>
            </a:r>
          </a:p>
        </p:txBody>
      </p:sp>
      <p:cxnSp>
        <p:nvCxnSpPr>
          <p:cNvPr id="11" name="Straight Connector 10">
            <a:extLst>
              <a:ext uri="{FF2B5EF4-FFF2-40B4-BE49-F238E27FC236}">
                <a16:creationId xmlns:a16="http://schemas.microsoft.com/office/drawing/2014/main" id="{53C0BBAA-A5EC-5D5D-32E6-9F7EA60484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131" y="6268313"/>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17827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BD0079-8CDD-B756-8833-65214A0F0067}"/>
              </a:ext>
            </a:extLst>
          </p:cNvPr>
          <p:cNvSpPr>
            <a:spLocks noGrp="1"/>
          </p:cNvSpPr>
          <p:nvPr>
            <p:ph type="title"/>
          </p:nvPr>
        </p:nvSpPr>
        <p:spPr>
          <a:xfrm>
            <a:off x="640079" y="914400"/>
            <a:ext cx="4261104" cy="1097280"/>
          </a:xfrm>
        </p:spPr>
        <p:txBody>
          <a:bodyPr vert="horz" lIns="91440" tIns="45720" rIns="91440" bIns="45720" rtlCol="0" anchor="t">
            <a:normAutofit/>
          </a:bodyPr>
          <a:lstStyle/>
          <a:p>
            <a:r>
              <a:rPr lang="en-US" sz="3600"/>
              <a:t>Introduction to OSD</a:t>
            </a:r>
          </a:p>
        </p:txBody>
      </p:sp>
      <p:sp>
        <p:nvSpPr>
          <p:cNvPr id="4" name="Content Placeholder 3">
            <a:extLst>
              <a:ext uri="{FF2B5EF4-FFF2-40B4-BE49-F238E27FC236}">
                <a16:creationId xmlns:a16="http://schemas.microsoft.com/office/drawing/2014/main" id="{5BF0A1BE-AF08-08D9-3DF8-3A18F9C2CEEE}"/>
              </a:ext>
            </a:extLst>
          </p:cNvPr>
          <p:cNvSpPr>
            <a:spLocks noGrp="1"/>
          </p:cNvSpPr>
          <p:nvPr>
            <p:ph sz="half" idx="2"/>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640079" y="2176036"/>
            <a:ext cx="4261104" cy="4121887"/>
          </a:xfrm>
        </p:spPr>
        <p:txBody>
          <a:bodyPr>
            <a:normAutofit/>
          </a:bodyPr>
          <a:lstStyle/>
          <a:p>
            <a:pPr marL="0" indent="0">
              <a:lnSpc>
                <a:spcPct val="100000"/>
              </a:lnSpc>
              <a:spcBef>
                <a:spcPts val="2500"/>
              </a:spcBef>
              <a:buNone/>
            </a:pPr>
            <a:r>
              <a:rPr lang="en-US" sz="1400" b="1" dirty="0"/>
              <a:t>Taking a machine, installing an OS, prepping it for use by end </a:t>
            </a:r>
            <a:r>
              <a:rPr lang="en-US" sz="1400" b="1" dirty="0" err="1"/>
              <a:t>user.We’ll</a:t>
            </a:r>
            <a:r>
              <a:rPr lang="en-US" sz="1400" b="1" dirty="0"/>
              <a:t> be just talking about Windows OSD</a:t>
            </a:r>
          </a:p>
          <a:p>
            <a:pPr marL="0" indent="0">
              <a:lnSpc>
                <a:spcPct val="100000"/>
              </a:lnSpc>
              <a:spcBef>
                <a:spcPts val="2500"/>
              </a:spcBef>
              <a:buNone/>
            </a:pPr>
            <a:r>
              <a:rPr lang="en-US" sz="1400" b="1" dirty="0"/>
              <a:t>Several Phases of the Process</a:t>
            </a:r>
          </a:p>
          <a:p>
            <a:pPr marL="0" indent="0">
              <a:lnSpc>
                <a:spcPct val="100000"/>
              </a:lnSpc>
              <a:spcBef>
                <a:spcPts val="2500"/>
              </a:spcBef>
              <a:buNone/>
            </a:pPr>
            <a:r>
              <a:rPr lang="en-US" sz="1400" b="1" dirty="0"/>
              <a:t>WinPE (Offline) -&gt; Specialize -&gt; OOBE (Setup Complete runs here)</a:t>
            </a:r>
          </a:p>
        </p:txBody>
      </p:sp>
      <p:cxnSp>
        <p:nvCxnSpPr>
          <p:cNvPr id="14" name="Straight Connector 13">
            <a:extLst>
              <a:ext uri="{FF2B5EF4-FFF2-40B4-BE49-F238E27FC236}">
                <a16:creationId xmlns:a16="http://schemas.microsoft.com/office/drawing/2014/main" id="{92025DBA-8780-9CA0-2826-FF6E3BD1A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672328" y="6267921"/>
            <a:ext cx="6519672" cy="2"/>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AB605C8C-7932-688D-975D-76A645C55E4D}"/>
              </a:ext>
            </a:extLst>
          </p:cNvPr>
          <p:cNvPicPr>
            <a:picLocks noChangeAspect="1"/>
          </p:cNvPicPr>
          <p:nvPr/>
        </p:nvPicPr>
        <p:blipFill>
          <a:blip r:embed="rId3"/>
          <a:stretch>
            <a:fillRect/>
          </a:stretch>
        </p:blipFill>
        <p:spPr>
          <a:xfrm>
            <a:off x="4901183" y="300825"/>
            <a:ext cx="7363970" cy="4085764"/>
          </a:xfrm>
          <a:prstGeom prst="rect">
            <a:avLst/>
          </a:prstGeom>
        </p:spPr>
      </p:pic>
    </p:spTree>
    <p:extLst>
      <p:ext uri="{BB962C8B-B14F-4D97-AF65-F5344CB8AC3E}">
        <p14:creationId xmlns:p14="http://schemas.microsoft.com/office/powerpoint/2010/main" val="9868705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E597BF-9B3D-91C0-CC23-0844A1D183A1}"/>
              </a:ext>
            </a:extLst>
          </p:cNvPr>
          <p:cNvSpPr>
            <a:spLocks noGrp="1"/>
          </p:cNvSpPr>
          <p:nvPr>
            <p:ph type="title"/>
          </p:nvPr>
        </p:nvSpPr>
        <p:spPr>
          <a:xfrm>
            <a:off x="4487116" y="130968"/>
            <a:ext cx="6291472" cy="1097280"/>
          </a:xfrm>
        </p:spPr>
        <p:txBody>
          <a:bodyPr vert="horz" lIns="91440" tIns="45720" rIns="91440" bIns="45720" rtlCol="0" anchor="t">
            <a:normAutofit/>
          </a:bodyPr>
          <a:lstStyle/>
          <a:p>
            <a:r>
              <a:rPr lang="en-US"/>
              <a:t>WinPE Phase</a:t>
            </a:r>
            <a:endParaRPr lang="en-US" dirty="0"/>
          </a:p>
        </p:txBody>
      </p:sp>
      <p:sp>
        <p:nvSpPr>
          <p:cNvPr id="4" name="Content Placeholder 3">
            <a:extLst>
              <a:ext uri="{FF2B5EF4-FFF2-40B4-BE49-F238E27FC236}">
                <a16:creationId xmlns:a16="http://schemas.microsoft.com/office/drawing/2014/main" id="{9D0E850A-235A-E2E2-CBB9-3B5A94D5C5EB}"/>
              </a:ext>
            </a:extLst>
          </p:cNvPr>
          <p:cNvSpPr>
            <a:spLocks noGrp="1"/>
          </p:cNvSpPr>
          <p:nvPr>
            <p:ph sz="half" idx="2"/>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640080" y="573111"/>
            <a:ext cx="3751616" cy="6085265"/>
          </a:xfrm>
        </p:spPr>
        <p:txBody>
          <a:bodyPr>
            <a:normAutofit/>
          </a:bodyPr>
          <a:lstStyle/>
          <a:p>
            <a:pPr marL="0" indent="0">
              <a:spcBef>
                <a:spcPts val="2500"/>
              </a:spcBef>
              <a:buNone/>
            </a:pPr>
            <a:r>
              <a:rPr lang="en-US" sz="1400" b="1" dirty="0"/>
              <a:t>Initial Boot Environment</a:t>
            </a:r>
          </a:p>
          <a:p>
            <a:pPr marL="0" lvl="1" indent="0">
              <a:buNone/>
            </a:pPr>
            <a:r>
              <a:rPr lang="en-US" sz="1400" dirty="0"/>
              <a:t>WinPE serves as the initial boot environment, critical for starting the deployment process effectively.</a:t>
            </a:r>
          </a:p>
          <a:p>
            <a:pPr marL="0" lvl="1" indent="0">
              <a:buNone/>
            </a:pPr>
            <a:endParaRPr lang="en-US" sz="1400" dirty="0"/>
          </a:p>
          <a:p>
            <a:pPr marL="0" lvl="1" indent="0">
              <a:buNone/>
            </a:pPr>
            <a:r>
              <a:rPr lang="en-US" sz="1400" dirty="0"/>
              <a:t>Things to note:  Boot Media is important</a:t>
            </a:r>
          </a:p>
          <a:p>
            <a:pPr marL="285750" lvl="1" indent="-285750"/>
            <a:r>
              <a:rPr lang="en-US" sz="1400" dirty="0"/>
              <a:t>Drivers</a:t>
            </a:r>
          </a:p>
          <a:p>
            <a:pPr marL="285750" lvl="1" indent="-285750"/>
            <a:r>
              <a:rPr lang="en-US" sz="1400" dirty="0"/>
              <a:t>Patching (for Secure Boot)</a:t>
            </a:r>
          </a:p>
          <a:p>
            <a:pPr marL="285750" lvl="1" indent="-285750"/>
            <a:r>
              <a:rPr lang="en-US" sz="1400" dirty="0"/>
              <a:t>Components (</a:t>
            </a:r>
            <a:r>
              <a:rPr lang="en-US" sz="1400" dirty="0" err="1"/>
              <a:t>.Net</a:t>
            </a:r>
            <a:r>
              <a:rPr lang="en-US" sz="1400" dirty="0"/>
              <a:t>, PowerShell, </a:t>
            </a:r>
            <a:r>
              <a:rPr lang="en-US" sz="1400" dirty="0" err="1"/>
              <a:t>etc</a:t>
            </a:r>
            <a:r>
              <a:rPr lang="en-US" sz="1400" dirty="0"/>
              <a:t>)</a:t>
            </a:r>
          </a:p>
          <a:p>
            <a:pPr marL="285750" lvl="1" indent="-285750"/>
            <a:r>
              <a:rPr lang="en-US" sz="1400" dirty="0" err="1"/>
              <a:t>WiFi</a:t>
            </a:r>
            <a:r>
              <a:rPr lang="en-US" sz="1400" dirty="0"/>
              <a:t>?  WinRE</a:t>
            </a:r>
          </a:p>
          <a:p>
            <a:pPr marL="285750" lvl="1" indent="-285750"/>
            <a:endParaRPr lang="en-US" sz="1400" dirty="0"/>
          </a:p>
          <a:p>
            <a:pPr marL="285750" lvl="1" indent="-285750"/>
            <a:r>
              <a:rPr lang="en-US" sz="1400" dirty="0" err="1"/>
              <a:t>BGInfo</a:t>
            </a:r>
            <a:r>
              <a:rPr lang="en-US" sz="1400" dirty="0"/>
              <a:t> is nifty</a:t>
            </a:r>
          </a:p>
          <a:p>
            <a:pPr marL="285750" lvl="1" indent="-285750"/>
            <a:r>
              <a:rPr lang="en-US" sz="1400" dirty="0"/>
              <a:t>Custom Background for Branding</a:t>
            </a:r>
          </a:p>
          <a:p>
            <a:pPr marL="285750" lvl="1" indent="-285750"/>
            <a:endParaRPr lang="en-US" sz="1400" dirty="0"/>
          </a:p>
          <a:p>
            <a:pPr marL="285750" lvl="1" indent="-285750"/>
            <a:endParaRPr lang="en-US" sz="1400" dirty="0"/>
          </a:p>
          <a:p>
            <a:pPr marL="285750" lvl="1" indent="-285750"/>
            <a:r>
              <a:rPr lang="en-US" sz="1400" dirty="0"/>
              <a:t>How do you get to WinPE?</a:t>
            </a:r>
          </a:p>
          <a:p>
            <a:pPr marL="523494" lvl="2" indent="-285750"/>
            <a:r>
              <a:rPr lang="en-US" sz="1200" dirty="0"/>
              <a:t>PXE / </a:t>
            </a:r>
            <a:r>
              <a:rPr lang="en-US" sz="1200" dirty="0" err="1"/>
              <a:t>iPXE</a:t>
            </a:r>
            <a:endParaRPr lang="en-US" sz="1200" dirty="0"/>
          </a:p>
          <a:p>
            <a:pPr marL="523494" lvl="2" indent="-285750"/>
            <a:r>
              <a:rPr lang="en-US" sz="1200" dirty="0"/>
              <a:t>USB</a:t>
            </a:r>
          </a:p>
          <a:p>
            <a:pPr marL="523494" lvl="2" indent="-285750"/>
            <a:r>
              <a:rPr lang="en-US" sz="1200" dirty="0"/>
              <a:t>Staged from Full OS</a:t>
            </a:r>
          </a:p>
        </p:txBody>
      </p:sp>
      <p:cxnSp>
        <p:nvCxnSpPr>
          <p:cNvPr id="14" name="Straight Connector 13">
            <a:extLst>
              <a:ext uri="{FF2B5EF4-FFF2-40B4-BE49-F238E27FC236}">
                <a16:creationId xmlns:a16="http://schemas.microsoft.com/office/drawing/2014/main" id="{92025DBA-8780-9CA0-2826-FF6E3BD1A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774468" y="6271515"/>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BB1A63C6-54C1-9C6F-E980-D641C0E0B67D}"/>
              </a:ext>
            </a:extLst>
          </p:cNvPr>
          <p:cNvPicPr>
            <a:picLocks noChangeAspect="1"/>
          </p:cNvPicPr>
          <p:nvPr/>
        </p:nvPicPr>
        <p:blipFill>
          <a:blip r:embed="rId3"/>
          <a:stretch>
            <a:fillRect/>
          </a:stretch>
        </p:blipFill>
        <p:spPr>
          <a:xfrm>
            <a:off x="4487116" y="2543577"/>
            <a:ext cx="7704884" cy="4240254"/>
          </a:xfrm>
          <a:prstGeom prst="rect">
            <a:avLst/>
          </a:prstGeom>
        </p:spPr>
      </p:pic>
    </p:spTree>
    <p:extLst>
      <p:ext uri="{BB962C8B-B14F-4D97-AF65-F5344CB8AC3E}">
        <p14:creationId xmlns:p14="http://schemas.microsoft.com/office/powerpoint/2010/main" val="1513516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1327D6-93DF-A91D-6233-DF71920D2965}"/>
              </a:ext>
            </a:extLst>
          </p:cNvPr>
          <p:cNvSpPr>
            <a:spLocks noGrp="1"/>
          </p:cNvSpPr>
          <p:nvPr>
            <p:ph type="title"/>
          </p:nvPr>
        </p:nvSpPr>
        <p:spPr>
          <a:xfrm>
            <a:off x="2794715" y="410085"/>
            <a:ext cx="6501810" cy="1097280"/>
          </a:xfrm>
        </p:spPr>
        <p:txBody>
          <a:bodyPr vert="horz" lIns="91440" tIns="45720" rIns="91440" bIns="45720" rtlCol="0" anchor="t">
            <a:normAutofit/>
          </a:bodyPr>
          <a:lstStyle/>
          <a:p>
            <a:r>
              <a:rPr lang="en-US" dirty="0"/>
              <a:t>Specialize Phase</a:t>
            </a:r>
          </a:p>
        </p:txBody>
      </p:sp>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E8DA92F2-C9CB-F1B6-9DC7-F6A5AE9DB486}"/>
              </a:ext>
            </a:extLst>
          </p:cNvPr>
          <p:cNvSpPr>
            <a:spLocks noGrp="1"/>
          </p:cNvSpPr>
          <p:nvPr>
            <p:ph sz="half" idx="2"/>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7875430" y="264018"/>
            <a:ext cx="3655579" cy="6033904"/>
          </a:xfrm>
        </p:spPr>
        <p:txBody>
          <a:bodyPr>
            <a:noAutofit/>
          </a:bodyPr>
          <a:lstStyle/>
          <a:p>
            <a:pPr marL="0" indent="0">
              <a:spcBef>
                <a:spcPts val="2500"/>
              </a:spcBef>
              <a:buNone/>
            </a:pPr>
            <a:r>
              <a:rPr lang="en-US" sz="2400" b="1" dirty="0"/>
              <a:t>This Phase is the first phase in which you’re booted into the OS you’ve installed… it’s not fully functional yet, and it’s installing the drivers and doing additional things based on the </a:t>
            </a:r>
            <a:r>
              <a:rPr lang="en-US" sz="2400" b="1" dirty="0" err="1"/>
              <a:t>unattend</a:t>
            </a:r>
            <a:r>
              <a:rPr lang="en-US" sz="2400" b="1" dirty="0"/>
              <a:t> file.</a:t>
            </a:r>
          </a:p>
          <a:p>
            <a:pPr marL="0" indent="0">
              <a:spcBef>
                <a:spcPts val="2500"/>
              </a:spcBef>
              <a:buNone/>
            </a:pPr>
            <a:r>
              <a:rPr lang="en-US" sz="2400" b="1" dirty="0"/>
              <a:t>This phase runs all by itself based on previously provided instructions, you do not see the </a:t>
            </a:r>
            <a:r>
              <a:rPr lang="en-US" sz="2400" b="1" dirty="0" err="1"/>
              <a:t>ConfigMgr</a:t>
            </a:r>
            <a:r>
              <a:rPr lang="en-US" sz="2400" b="1" dirty="0"/>
              <a:t> progress UI here… </a:t>
            </a:r>
            <a:endParaRPr lang="en-US" sz="2400" dirty="0"/>
          </a:p>
        </p:txBody>
      </p:sp>
      <p:sp>
        <p:nvSpPr>
          <p:cNvPr id="11" name="Content Placeholder 10">
            <a:extLst>
              <a:ext uri="{FF2B5EF4-FFF2-40B4-BE49-F238E27FC236}">
                <a16:creationId xmlns:a16="http://schemas.microsoft.com/office/drawing/2014/main" id="{A908837D-3166-C215-BA88-FC4A31D9932D}"/>
              </a:ext>
            </a:extLst>
          </p:cNvPr>
          <p:cNvSpPr>
            <a:spLocks noGrp="1"/>
          </p:cNvSpPr>
          <p:nvPr>
            <p:ph sz="half" idx="1"/>
          </p:nvPr>
        </p:nvSpPr>
        <p:spPr/>
        <p:txBody>
          <a:bodyPr/>
          <a:lstStyle/>
          <a:p>
            <a:endParaRPr lang="en-US"/>
          </a:p>
        </p:txBody>
      </p:sp>
      <p:pic>
        <p:nvPicPr>
          <p:cNvPr id="15" name="Picture 14">
            <a:extLst>
              <a:ext uri="{FF2B5EF4-FFF2-40B4-BE49-F238E27FC236}">
                <a16:creationId xmlns:a16="http://schemas.microsoft.com/office/drawing/2014/main" id="{761794BD-91FB-88F7-293F-49742C5AD74A}"/>
              </a:ext>
            </a:extLst>
          </p:cNvPr>
          <p:cNvPicPr>
            <a:picLocks noChangeAspect="1"/>
          </p:cNvPicPr>
          <p:nvPr/>
        </p:nvPicPr>
        <p:blipFill>
          <a:blip r:embed="rId3"/>
          <a:stretch>
            <a:fillRect/>
          </a:stretch>
        </p:blipFill>
        <p:spPr>
          <a:xfrm>
            <a:off x="122350" y="1935973"/>
            <a:ext cx="7515546" cy="4602010"/>
          </a:xfrm>
          <a:prstGeom prst="rect">
            <a:avLst/>
          </a:prstGeom>
        </p:spPr>
      </p:pic>
    </p:spTree>
    <p:extLst>
      <p:ext uri="{BB962C8B-B14F-4D97-AF65-F5344CB8AC3E}">
        <p14:creationId xmlns:p14="http://schemas.microsoft.com/office/powerpoint/2010/main" val="29231381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33" name="Straight Connector 1032">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035" name="Rectangle 1034">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57E67D5-E8C9-2C56-6C54-298090D4BE88}"/>
              </a:ext>
            </a:extLst>
          </p:cNvPr>
          <p:cNvSpPr>
            <a:spLocks noGrp="1"/>
          </p:cNvSpPr>
          <p:nvPr>
            <p:ph type="title"/>
          </p:nvPr>
        </p:nvSpPr>
        <p:spPr>
          <a:xfrm>
            <a:off x="660993" y="4895273"/>
            <a:ext cx="3550790" cy="1476533"/>
          </a:xfrm>
        </p:spPr>
        <p:txBody>
          <a:bodyPr vert="horz" lIns="91440" tIns="45720" rIns="91440" bIns="45720" rtlCol="0" anchor="ctr">
            <a:normAutofit/>
          </a:bodyPr>
          <a:lstStyle/>
          <a:p>
            <a:r>
              <a:rPr lang="en-US" sz="3600" dirty="0"/>
              <a:t>Setup Complete</a:t>
            </a:r>
          </a:p>
        </p:txBody>
      </p:sp>
      <p:pic>
        <p:nvPicPr>
          <p:cNvPr id="1028" name="Picture 4">
            <a:extLst>
              <a:ext uri="{FF2B5EF4-FFF2-40B4-BE49-F238E27FC236}">
                <a16:creationId xmlns:a16="http://schemas.microsoft.com/office/drawing/2014/main" id="{BB6A784C-3536-E240-D2F2-51ED6535FAF2}"/>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t="35604" b="3912"/>
          <a:stretch>
            <a:fillRect/>
          </a:stretch>
        </p:blipFill>
        <p:spPr bwMode="auto">
          <a:xfrm>
            <a:off x="660991" y="10"/>
            <a:ext cx="10870017" cy="4651558"/>
          </a:xfrm>
          <a:prstGeom prst="rect">
            <a:avLst/>
          </a:prstGeom>
          <a:noFill/>
          <a:extLst>
            <a:ext uri="{909E8E84-426E-40DD-AFC4-6F175D3DCCD1}">
              <a14:hiddenFill xmlns:a14="http://schemas.microsoft.com/office/drawing/2010/main">
                <a:solidFill>
                  <a:srgbClr val="FFFFFF"/>
                </a:solidFill>
              </a14:hiddenFill>
            </a:ext>
          </a:extLst>
        </p:spPr>
      </p:pic>
      <p:cxnSp>
        <p:nvCxnSpPr>
          <p:cNvPr id="1037" name="Straight Connector 1036">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660992" y="4651571"/>
            <a:ext cx="10869326" cy="2"/>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A8B6E125-D641-38A7-020B-644B8C94862E}"/>
              </a:ext>
            </a:extLst>
          </p:cNvPr>
          <p:cNvSpPr>
            <a:spLocks noGrp="1"/>
          </p:cNvSpPr>
          <p:nvPr>
            <p:ph sz="half" idx="2"/>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4872777" y="4895270"/>
            <a:ext cx="6658234" cy="1476541"/>
          </a:xfrm>
        </p:spPr>
        <p:txBody>
          <a:bodyPr>
            <a:normAutofit lnSpcReduction="10000"/>
          </a:bodyPr>
          <a:lstStyle/>
          <a:p>
            <a:pPr marL="0" indent="0">
              <a:spcBef>
                <a:spcPts val="2500"/>
              </a:spcBef>
              <a:buNone/>
            </a:pPr>
            <a:r>
              <a:rPr lang="en-US" b="1" dirty="0" err="1"/>
              <a:t>ConfigMgr</a:t>
            </a:r>
            <a:r>
              <a:rPr lang="en-US" b="1" dirty="0"/>
              <a:t> leverages the SetupComplete.cmd file to kick back off the Task Sequence Progress (osdsetuphook.exe), which it creates back in the WinPE phase.</a:t>
            </a:r>
            <a:br>
              <a:rPr lang="en-US" b="1" dirty="0"/>
            </a:br>
            <a:r>
              <a:rPr lang="en-US" b="1" dirty="0"/>
              <a:t>Rest of the TS is run during this phase.</a:t>
            </a:r>
          </a:p>
          <a:p>
            <a:pPr marL="0" indent="0">
              <a:spcBef>
                <a:spcPts val="2500"/>
              </a:spcBef>
              <a:buNone/>
            </a:pPr>
            <a:endParaRPr lang="en-US" sz="1400" b="1" dirty="0"/>
          </a:p>
        </p:txBody>
      </p:sp>
    </p:spTree>
    <p:extLst>
      <p:ext uri="{BB962C8B-B14F-4D97-AF65-F5344CB8AC3E}">
        <p14:creationId xmlns:p14="http://schemas.microsoft.com/office/powerpoint/2010/main" val="34905208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5207F-9B1E-0CDF-215E-DB79C174369E}"/>
              </a:ext>
            </a:extLst>
          </p:cNvPr>
          <p:cNvSpPr>
            <a:spLocks noGrp="1"/>
          </p:cNvSpPr>
          <p:nvPr>
            <p:ph type="title"/>
          </p:nvPr>
        </p:nvSpPr>
        <p:spPr>
          <a:xfrm>
            <a:off x="640079" y="392806"/>
            <a:ext cx="10890929" cy="1097280"/>
          </a:xfrm>
        </p:spPr>
        <p:txBody>
          <a:bodyPr>
            <a:normAutofit fontScale="90000"/>
          </a:bodyPr>
          <a:lstStyle/>
          <a:p>
            <a:r>
              <a:rPr lang="en-US" dirty="0" err="1"/>
              <a:t>Unattend</a:t>
            </a:r>
            <a:r>
              <a:rPr lang="en-US" dirty="0"/>
              <a:t> File… do I need one, should I provide one?</a:t>
            </a:r>
          </a:p>
        </p:txBody>
      </p:sp>
      <p:sp>
        <p:nvSpPr>
          <p:cNvPr id="3" name="Content Placeholder 2">
            <a:extLst>
              <a:ext uri="{FF2B5EF4-FFF2-40B4-BE49-F238E27FC236}">
                <a16:creationId xmlns:a16="http://schemas.microsoft.com/office/drawing/2014/main" id="{096F986F-1B00-8600-AB8C-241B0A254A2C}"/>
              </a:ext>
            </a:extLst>
          </p:cNvPr>
          <p:cNvSpPr>
            <a:spLocks noGrp="1"/>
          </p:cNvSpPr>
          <p:nvPr>
            <p:ph sz="half" idx="1"/>
          </p:nvPr>
        </p:nvSpPr>
        <p:spPr>
          <a:xfrm>
            <a:off x="640080" y="1654935"/>
            <a:ext cx="4537227" cy="4544697"/>
          </a:xfrm>
        </p:spPr>
        <p:txBody>
          <a:bodyPr/>
          <a:lstStyle/>
          <a:p>
            <a:r>
              <a:rPr lang="en-US" dirty="0"/>
              <a:t>Yes you need one… but…</a:t>
            </a:r>
          </a:p>
          <a:p>
            <a:r>
              <a:rPr lang="en-US" dirty="0"/>
              <a:t>To apply a custom </a:t>
            </a:r>
            <a:r>
              <a:rPr lang="en-US" dirty="0" err="1"/>
              <a:t>unattend</a:t>
            </a:r>
            <a:r>
              <a:rPr lang="en-US" dirty="0"/>
              <a:t> file, or not to apply custom </a:t>
            </a:r>
            <a:r>
              <a:rPr lang="en-US" dirty="0" err="1"/>
              <a:t>unattend</a:t>
            </a:r>
            <a:r>
              <a:rPr lang="en-US" dirty="0"/>
              <a:t> file, that is the question….</a:t>
            </a:r>
          </a:p>
          <a:p>
            <a:r>
              <a:rPr lang="en-US" dirty="0"/>
              <a:t>My recommendation…. Do NOT</a:t>
            </a:r>
          </a:p>
          <a:p>
            <a:r>
              <a:rPr lang="en-US" dirty="0" err="1"/>
              <a:t>ConfigMgr</a:t>
            </a:r>
            <a:r>
              <a:rPr lang="en-US" dirty="0"/>
              <a:t> builds the </a:t>
            </a:r>
            <a:r>
              <a:rPr lang="en-US" dirty="0" err="1"/>
              <a:t>unattend</a:t>
            </a:r>
            <a:r>
              <a:rPr lang="en-US" dirty="0"/>
              <a:t> file along the way with the required settings to continue on.  Anything else, you can use the magic of the Task Sequence to accomplish. </a:t>
            </a:r>
          </a:p>
        </p:txBody>
      </p:sp>
      <p:pic>
        <p:nvPicPr>
          <p:cNvPr id="2052" name="Picture 4" descr="Error &quot;Windows could not parse or process the unattend answer file for ...">
            <a:extLst>
              <a:ext uri="{FF2B5EF4-FFF2-40B4-BE49-F238E27FC236}">
                <a16:creationId xmlns:a16="http://schemas.microsoft.com/office/drawing/2014/main" id="{B6F85EB5-8B4B-3ACA-6908-6A4068E862F7}"/>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5298657" y="1255624"/>
            <a:ext cx="6592010" cy="49440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41016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20BA9E2-6DF0-1D08-FCFF-2CBA5BC4FC7F}"/>
            </a:ext>
          </a:extLst>
        </p:cNvPr>
        <p:cNvGrpSpPr/>
        <p:nvPr/>
      </p:nvGrpSpPr>
      <p:grpSpPr>
        <a:xfrm>
          <a:off x="0" y="0"/>
          <a:ext cx="0" cy="0"/>
          <a:chOff x="0" y="0"/>
          <a:chExt cx="0" cy="0"/>
        </a:xfrm>
      </p:grpSpPr>
      <p:cxnSp>
        <p:nvCxnSpPr>
          <p:cNvPr id="3083" name="Straight Connector 3082">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3085" name="Rectangle 3084">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60F482C-1B13-A5A7-F2FC-B5E0AA361963}"/>
              </a:ext>
            </a:extLst>
          </p:cNvPr>
          <p:cNvSpPr>
            <a:spLocks noGrp="1"/>
          </p:cNvSpPr>
          <p:nvPr>
            <p:ph type="title"/>
          </p:nvPr>
        </p:nvSpPr>
        <p:spPr>
          <a:xfrm>
            <a:off x="640079" y="914400"/>
            <a:ext cx="4261104" cy="1097280"/>
          </a:xfrm>
        </p:spPr>
        <p:txBody>
          <a:bodyPr vert="horz" lIns="91440" tIns="45720" rIns="91440" bIns="45720" rtlCol="0" anchor="t">
            <a:normAutofit/>
          </a:bodyPr>
          <a:lstStyle/>
          <a:p>
            <a:r>
              <a:rPr lang="en-US" sz="3300"/>
              <a:t>So how does CM build that unattend file?</a:t>
            </a:r>
          </a:p>
        </p:txBody>
      </p:sp>
      <p:sp>
        <p:nvSpPr>
          <p:cNvPr id="3" name="Content Placeholder 2">
            <a:extLst>
              <a:ext uri="{FF2B5EF4-FFF2-40B4-BE49-F238E27FC236}">
                <a16:creationId xmlns:a16="http://schemas.microsoft.com/office/drawing/2014/main" id="{47113766-5769-65F0-1C69-ED560685B3AB}"/>
              </a:ext>
            </a:extLst>
          </p:cNvPr>
          <p:cNvSpPr>
            <a:spLocks noGrp="1"/>
          </p:cNvSpPr>
          <p:nvPr>
            <p:ph sz="half" idx="1"/>
          </p:nvPr>
        </p:nvSpPr>
        <p:spPr>
          <a:xfrm>
            <a:off x="640079" y="2176036"/>
            <a:ext cx="4261104" cy="4121887"/>
          </a:xfrm>
        </p:spPr>
        <p:txBody>
          <a:bodyPr vert="horz" lIns="91440" tIns="45720" rIns="91440" bIns="45720" rtlCol="0">
            <a:normAutofit/>
          </a:bodyPr>
          <a:lstStyle/>
          <a:p>
            <a:pPr>
              <a:lnSpc>
                <a:spcPct val="110000"/>
              </a:lnSpc>
            </a:pPr>
            <a:r>
              <a:rPr lang="en-US" dirty="0"/>
              <a:t>It uses several steps and variables to auto generate one as the TS goes.</a:t>
            </a:r>
            <a:br>
              <a:rPr lang="en-US" dirty="0"/>
            </a:br>
            <a:r>
              <a:rPr lang="en-US" dirty="0"/>
              <a:t>DETAILS: </a:t>
            </a:r>
            <a:r>
              <a:rPr lang="en-US" dirty="0">
                <a:hlinkClick r:id="rId2"/>
              </a:rPr>
              <a:t>Capture &amp; Apply Settings Combined</a:t>
            </a:r>
            <a:endParaRPr lang="en-US"/>
          </a:p>
          <a:p>
            <a:pPr>
              <a:lnSpc>
                <a:spcPct val="110000"/>
              </a:lnSpc>
            </a:pPr>
            <a:r>
              <a:rPr lang="en-US" dirty="0"/>
              <a:t>Steps include:</a:t>
            </a:r>
            <a:endParaRPr lang="en-US"/>
          </a:p>
          <a:p>
            <a:pPr>
              <a:lnSpc>
                <a:spcPct val="110000"/>
              </a:lnSpc>
            </a:pPr>
            <a:r>
              <a:rPr lang="en-US" b="0" i="0" u="none" strike="noStrike">
                <a:effectLst/>
                <a:hlinkClick r:id="rId3"/>
              </a:rPr>
              <a:t>Capture Network Settings</a:t>
            </a:r>
            <a:endParaRPr lang="en-US" b="0" i="0">
              <a:effectLst/>
            </a:endParaRPr>
          </a:p>
          <a:p>
            <a:pPr>
              <a:lnSpc>
                <a:spcPct val="110000"/>
              </a:lnSpc>
            </a:pPr>
            <a:r>
              <a:rPr lang="en-US" b="0" i="0" u="none" strike="noStrike">
                <a:effectLst/>
                <a:hlinkClick r:id="rId4"/>
              </a:rPr>
              <a:t>Capture Windows Settings</a:t>
            </a:r>
            <a:endParaRPr lang="en-US" b="0" i="0">
              <a:effectLst/>
            </a:endParaRPr>
          </a:p>
          <a:p>
            <a:pPr>
              <a:lnSpc>
                <a:spcPct val="110000"/>
              </a:lnSpc>
            </a:pPr>
            <a:r>
              <a:rPr lang="en-US" b="0" i="0" u="none" strike="noStrike">
                <a:effectLst/>
                <a:hlinkClick r:id="rId5"/>
              </a:rPr>
              <a:t>Apply Network Settings</a:t>
            </a:r>
            <a:endParaRPr lang="en-US" b="0" i="0">
              <a:effectLst/>
            </a:endParaRPr>
          </a:p>
          <a:p>
            <a:pPr>
              <a:lnSpc>
                <a:spcPct val="110000"/>
              </a:lnSpc>
            </a:pPr>
            <a:r>
              <a:rPr lang="en-US" b="0" i="0" u="none" strike="noStrike">
                <a:effectLst/>
                <a:hlinkClick r:id="rId6"/>
              </a:rPr>
              <a:t>Apply Windows Settings</a:t>
            </a:r>
            <a:endParaRPr lang="en-US"/>
          </a:p>
          <a:p>
            <a:pPr>
              <a:lnSpc>
                <a:spcPct val="110000"/>
              </a:lnSpc>
            </a:pPr>
            <a:endParaRPr lang="en-US"/>
          </a:p>
          <a:p>
            <a:pPr>
              <a:lnSpc>
                <a:spcPct val="110000"/>
              </a:lnSpc>
            </a:pPr>
            <a:endParaRPr lang="en-US"/>
          </a:p>
        </p:txBody>
      </p:sp>
      <p:pic>
        <p:nvPicPr>
          <p:cNvPr id="3078" name="Picture 6">
            <a:extLst>
              <a:ext uri="{FF2B5EF4-FFF2-40B4-BE49-F238E27FC236}">
                <a16:creationId xmlns:a16="http://schemas.microsoft.com/office/drawing/2014/main" id="{8228A627-4FFE-4F17-9B25-DCEBB9E1FEF1}"/>
              </a:ext>
            </a:extLst>
          </p:cNvPr>
          <p:cNvPicPr>
            <a:picLocks noGrp="1" noChangeAspect="1" noChangeArrowheads="1"/>
          </p:cNvPicPr>
          <p:nvPr>
            <p:ph sz="half" idx="2"/>
          </p:nvPr>
        </p:nvPicPr>
        <p:blipFill>
          <a:blip r:embed="rId7">
            <a:extLst>
              <a:ext uri="{28A0092B-C50C-407E-A947-70E740481C1C}">
                <a14:useLocalDpi xmlns:a14="http://schemas.microsoft.com/office/drawing/2010/main" val="0"/>
              </a:ext>
            </a:extLst>
          </a:blip>
          <a:srcRect r="29354" b="2"/>
          <a:stretch>
            <a:fillRect/>
          </a:stretch>
        </p:blipFill>
        <p:spPr bwMode="auto">
          <a:xfrm>
            <a:off x="5671128" y="914399"/>
            <a:ext cx="6520872" cy="5353521"/>
          </a:xfrm>
          <a:prstGeom prst="rect">
            <a:avLst/>
          </a:prstGeom>
          <a:noFill/>
          <a:extLst>
            <a:ext uri="{909E8E84-426E-40DD-AFC4-6F175D3DCCD1}">
              <a14:hiddenFill xmlns:a14="http://schemas.microsoft.com/office/drawing/2010/main">
                <a:solidFill>
                  <a:srgbClr val="FFFFFF"/>
                </a:solidFill>
              </a14:hiddenFill>
            </a:ext>
          </a:extLst>
        </p:spPr>
      </p:pic>
      <p:cxnSp>
        <p:nvCxnSpPr>
          <p:cNvPr id="3087" name="Straight Connector 3086">
            <a:extLst>
              <a:ext uri="{FF2B5EF4-FFF2-40B4-BE49-F238E27FC236}">
                <a16:creationId xmlns:a16="http://schemas.microsoft.com/office/drawing/2014/main" id="{92025DBA-8780-9CA0-2826-FF6E3BD1A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672328" y="6267921"/>
            <a:ext cx="6519672" cy="2"/>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60611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8D1BC-085A-B4E5-6DBF-07378A5153D3}"/>
              </a:ext>
            </a:extLst>
          </p:cNvPr>
          <p:cNvSpPr>
            <a:spLocks noGrp="1"/>
          </p:cNvSpPr>
          <p:nvPr>
            <p:ph type="title"/>
          </p:nvPr>
        </p:nvSpPr>
        <p:spPr>
          <a:xfrm>
            <a:off x="525061" y="296173"/>
            <a:ext cx="2338910" cy="1529405"/>
          </a:xfrm>
        </p:spPr>
        <p:txBody>
          <a:bodyPr>
            <a:normAutofit/>
          </a:bodyPr>
          <a:lstStyle/>
          <a:p>
            <a:r>
              <a:rPr lang="en-US" dirty="0"/>
              <a:t>Building </a:t>
            </a:r>
            <a:r>
              <a:rPr lang="en-US" dirty="0" err="1"/>
              <a:t>Unattend</a:t>
            </a:r>
            <a:endParaRPr lang="en-US" dirty="0"/>
          </a:p>
        </p:txBody>
      </p:sp>
      <p:sp>
        <p:nvSpPr>
          <p:cNvPr id="3" name="Content Placeholder 2">
            <a:extLst>
              <a:ext uri="{FF2B5EF4-FFF2-40B4-BE49-F238E27FC236}">
                <a16:creationId xmlns:a16="http://schemas.microsoft.com/office/drawing/2014/main" id="{D0085979-2CDD-7F6C-E773-7E9E16F95697}"/>
              </a:ext>
            </a:extLst>
          </p:cNvPr>
          <p:cNvSpPr>
            <a:spLocks noGrp="1"/>
          </p:cNvSpPr>
          <p:nvPr>
            <p:ph sz="half" idx="1"/>
          </p:nvPr>
        </p:nvSpPr>
        <p:spPr>
          <a:xfrm>
            <a:off x="640080" y="1725283"/>
            <a:ext cx="2269897" cy="4474349"/>
          </a:xfrm>
        </p:spPr>
        <p:txBody>
          <a:bodyPr>
            <a:normAutofit fontScale="92500"/>
          </a:bodyPr>
          <a:lstStyle/>
          <a:p>
            <a:r>
              <a:rPr lang="en-US" sz="2800" dirty="0"/>
              <a:t>As the steps run, you’ll see in the smsts.log the different items being added into the unattend.xml</a:t>
            </a:r>
          </a:p>
        </p:txBody>
      </p:sp>
      <p:sp>
        <p:nvSpPr>
          <p:cNvPr id="4" name="Content Placeholder 3">
            <a:extLst>
              <a:ext uri="{FF2B5EF4-FFF2-40B4-BE49-F238E27FC236}">
                <a16:creationId xmlns:a16="http://schemas.microsoft.com/office/drawing/2014/main" id="{7DD7C2CB-90BB-2320-1947-A7507D35CDDC}"/>
              </a:ext>
            </a:extLst>
          </p:cNvPr>
          <p:cNvSpPr>
            <a:spLocks noGrp="1"/>
          </p:cNvSpPr>
          <p:nvPr>
            <p:ph sz="half" idx="2"/>
          </p:nvPr>
        </p:nvSpPr>
        <p:spPr/>
        <p:txBody>
          <a:bodyPr>
            <a:normAutofit fontScale="92500"/>
          </a:bodyPr>
          <a:lstStyle/>
          <a:p>
            <a:endParaRPr lang="en-US"/>
          </a:p>
        </p:txBody>
      </p:sp>
      <p:pic>
        <p:nvPicPr>
          <p:cNvPr id="4098" name="Picture 2">
            <a:extLst>
              <a:ext uri="{FF2B5EF4-FFF2-40B4-BE49-F238E27FC236}">
                <a16:creationId xmlns:a16="http://schemas.microsoft.com/office/drawing/2014/main" id="{B160D4AF-6C48-7B2F-31F1-C61AC010DF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1411" y="149525"/>
            <a:ext cx="1111408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87053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EF6B7-A032-02A2-D420-3EF75782B615}"/>
              </a:ext>
            </a:extLst>
          </p:cNvPr>
          <p:cNvSpPr>
            <a:spLocks noGrp="1"/>
          </p:cNvSpPr>
          <p:nvPr>
            <p:ph type="title"/>
          </p:nvPr>
        </p:nvSpPr>
        <p:spPr>
          <a:xfrm>
            <a:off x="640079" y="1371601"/>
            <a:ext cx="1995877" cy="1097280"/>
          </a:xfrm>
        </p:spPr>
        <p:txBody>
          <a:bodyPr>
            <a:normAutofit fontScale="90000"/>
          </a:bodyPr>
          <a:lstStyle/>
          <a:p>
            <a:r>
              <a:rPr lang="en-US" dirty="0" err="1"/>
              <a:t>Unattend</a:t>
            </a:r>
            <a:endParaRPr lang="en-US" dirty="0"/>
          </a:p>
        </p:txBody>
      </p:sp>
      <p:sp>
        <p:nvSpPr>
          <p:cNvPr id="3" name="Content Placeholder 2">
            <a:extLst>
              <a:ext uri="{FF2B5EF4-FFF2-40B4-BE49-F238E27FC236}">
                <a16:creationId xmlns:a16="http://schemas.microsoft.com/office/drawing/2014/main" id="{EC104F78-1D93-A5B8-C9BB-B91D554653A3}"/>
              </a:ext>
            </a:extLst>
          </p:cNvPr>
          <p:cNvSpPr>
            <a:spLocks noGrp="1"/>
          </p:cNvSpPr>
          <p:nvPr>
            <p:ph sz="half" idx="1"/>
          </p:nvPr>
        </p:nvSpPr>
        <p:spPr>
          <a:xfrm>
            <a:off x="640080" y="2633472"/>
            <a:ext cx="2436142" cy="3566160"/>
          </a:xfrm>
        </p:spPr>
        <p:txBody>
          <a:bodyPr/>
          <a:lstStyle/>
          <a:p>
            <a:r>
              <a:rPr lang="en-US" dirty="0"/>
              <a:t>All the info from those earlier steps is now living in the </a:t>
            </a:r>
            <a:r>
              <a:rPr lang="en-US" dirty="0" err="1"/>
              <a:t>unattand</a:t>
            </a:r>
            <a:r>
              <a:rPr lang="en-US" dirty="0"/>
              <a:t> file which is passed into specialize to get applied.</a:t>
            </a:r>
          </a:p>
        </p:txBody>
      </p:sp>
      <p:sp>
        <p:nvSpPr>
          <p:cNvPr id="4" name="Content Placeholder 3">
            <a:extLst>
              <a:ext uri="{FF2B5EF4-FFF2-40B4-BE49-F238E27FC236}">
                <a16:creationId xmlns:a16="http://schemas.microsoft.com/office/drawing/2014/main" id="{52B7D35A-AE83-5311-FB75-8FF4C06C4672}"/>
              </a:ext>
            </a:extLst>
          </p:cNvPr>
          <p:cNvSpPr>
            <a:spLocks noGrp="1"/>
          </p:cNvSpPr>
          <p:nvPr>
            <p:ph sz="half" idx="2"/>
          </p:nvPr>
        </p:nvSpPr>
        <p:spPr/>
        <p:txBody>
          <a:bodyPr/>
          <a:lstStyle/>
          <a:p>
            <a:endParaRPr lang="en-US"/>
          </a:p>
        </p:txBody>
      </p:sp>
      <p:pic>
        <p:nvPicPr>
          <p:cNvPr id="5122" name="Picture 2">
            <a:extLst>
              <a:ext uri="{FF2B5EF4-FFF2-40B4-BE49-F238E27FC236}">
                <a16:creationId xmlns:a16="http://schemas.microsoft.com/office/drawing/2014/main" id="{0E8D8C59-4DDD-1A28-CB3C-CEEA949AF7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0037" y="-39512"/>
            <a:ext cx="935196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95331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6B9231A-B34B-4A29-A6AC-532E1EE81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CC4CD640-0B08-FA22-5D4E-324068606AD3}"/>
              </a:ext>
            </a:extLst>
          </p:cNvPr>
          <p:cNvSpPr>
            <a:spLocks noGrp="1"/>
          </p:cNvSpPr>
          <p:nvPr>
            <p:ph type="ctrTitle"/>
          </p:nvPr>
        </p:nvSpPr>
        <p:spPr>
          <a:xfrm>
            <a:off x="559219" y="1115844"/>
            <a:ext cx="7680960" cy="4631911"/>
          </a:xfrm>
        </p:spPr>
        <p:txBody>
          <a:bodyPr anchor="b">
            <a:normAutofit/>
          </a:bodyPr>
          <a:lstStyle/>
          <a:p>
            <a:r>
              <a:rPr lang="en-US" sz="6500"/>
              <a:t>Configuration Manager OSD Troubleshooting</a:t>
            </a:r>
          </a:p>
        </p:txBody>
      </p:sp>
      <p:cxnSp>
        <p:nvCxnSpPr>
          <p:cNvPr id="11" name="Straight Connector 10">
            <a:extLst>
              <a:ext uri="{FF2B5EF4-FFF2-40B4-BE49-F238E27FC236}">
                <a16:creationId xmlns:a16="http://schemas.microsoft.com/office/drawing/2014/main" id="{53C0BBAA-A5EC-5D5D-32E6-9F7EA60484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131" y="6268313"/>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09810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92025DBA-8780-9CA0-2826-FF6E3BD1A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774468" y="6271515"/>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6148" name="Picture 4" descr="CDN media">
            <a:extLst>
              <a:ext uri="{FF2B5EF4-FFF2-40B4-BE49-F238E27FC236}">
                <a16:creationId xmlns:a16="http://schemas.microsoft.com/office/drawing/2014/main" id="{14FDAEAB-9B6B-CC4A-7ED1-54F02F2EB1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25312"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ADD54B71-FFE3-7D2A-DF54-E16B00E7EF33}"/>
              </a:ext>
            </a:extLst>
          </p:cNvPr>
          <p:cNvSpPr>
            <a:spLocks noGrp="1"/>
          </p:cNvSpPr>
          <p:nvPr>
            <p:ph type="title"/>
          </p:nvPr>
        </p:nvSpPr>
        <p:spPr>
          <a:xfrm>
            <a:off x="640080" y="914400"/>
            <a:ext cx="6291472" cy="1097280"/>
          </a:xfrm>
        </p:spPr>
        <p:txBody>
          <a:bodyPr vert="horz" lIns="91440" tIns="45720" rIns="91440" bIns="45720" rtlCol="0" anchor="t">
            <a:normAutofit/>
          </a:bodyPr>
          <a:lstStyle/>
          <a:p>
            <a:pPr>
              <a:lnSpc>
                <a:spcPct val="90000"/>
              </a:lnSpc>
            </a:pPr>
            <a:r>
              <a:rPr lang="en-US" sz="3400" dirty="0"/>
              <a:t>Common Task Sequence Issues</a:t>
            </a:r>
          </a:p>
        </p:txBody>
      </p:sp>
      <p:sp>
        <p:nvSpPr>
          <p:cNvPr id="4" name="Content Placeholder 3">
            <a:extLst>
              <a:ext uri="{FF2B5EF4-FFF2-40B4-BE49-F238E27FC236}">
                <a16:creationId xmlns:a16="http://schemas.microsoft.com/office/drawing/2014/main" id="{0272CBD0-B68E-8A4B-7ECA-E3759372FAA9}"/>
              </a:ext>
            </a:extLst>
          </p:cNvPr>
          <p:cNvSpPr>
            <a:spLocks noGrp="1"/>
          </p:cNvSpPr>
          <p:nvPr>
            <p:ph sz="half" idx="2"/>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662967" y="2128281"/>
            <a:ext cx="6291472" cy="4123944"/>
          </a:xfrm>
        </p:spPr>
        <p:txBody>
          <a:bodyPr>
            <a:normAutofit lnSpcReduction="10000"/>
          </a:bodyPr>
          <a:lstStyle/>
          <a:p>
            <a:pPr marL="0" indent="0">
              <a:spcBef>
                <a:spcPts val="2500"/>
              </a:spcBef>
              <a:buNone/>
            </a:pPr>
            <a:r>
              <a:rPr lang="en-US" sz="1400" b="1" dirty="0"/>
              <a:t>Misconfigurations</a:t>
            </a:r>
          </a:p>
          <a:p>
            <a:pPr marL="0" lvl="1" indent="0">
              <a:buNone/>
            </a:pPr>
            <a:r>
              <a:rPr lang="en-US" sz="1400" dirty="0"/>
              <a:t>Content / Boundaries / Order of operations (Sometimes installing Security Apps break other installs) / Deployment options (collection / Agent vs Media / PXE. </a:t>
            </a:r>
          </a:p>
          <a:p>
            <a:pPr marL="0" indent="0">
              <a:spcBef>
                <a:spcPts val="2500"/>
              </a:spcBef>
              <a:buNone/>
            </a:pPr>
            <a:r>
              <a:rPr lang="en-US" sz="1400" b="1" dirty="0"/>
              <a:t>Incorrect Sequences</a:t>
            </a:r>
          </a:p>
          <a:p>
            <a:pPr marL="0" lvl="1" indent="0">
              <a:buNone/>
            </a:pPr>
            <a:r>
              <a:rPr lang="en-US" sz="1400" dirty="0"/>
              <a:t>Missing required steps, using steps wrong (Apply Windows Settings vs Join Domain), Command Line or PowerShell script issues.</a:t>
            </a:r>
          </a:p>
          <a:p>
            <a:pPr marL="0" indent="0">
              <a:spcBef>
                <a:spcPts val="2500"/>
              </a:spcBef>
              <a:buNone/>
            </a:pPr>
            <a:r>
              <a:rPr lang="en-US" sz="1400" b="1" dirty="0"/>
              <a:t>Wrong / Missing Drivers</a:t>
            </a:r>
          </a:p>
          <a:p>
            <a:pPr marL="0" lvl="1" indent="0">
              <a:buNone/>
            </a:pPr>
            <a:r>
              <a:rPr lang="en-US" sz="1400" dirty="0"/>
              <a:t>Storage and Network seem to cause biggest issues</a:t>
            </a:r>
          </a:p>
          <a:p>
            <a:pPr marL="0" lvl="1" indent="0">
              <a:buNone/>
            </a:pPr>
            <a:endParaRPr lang="en-US" sz="1400" dirty="0"/>
          </a:p>
          <a:p>
            <a:pPr marL="0" lvl="1" indent="0">
              <a:buNone/>
            </a:pPr>
            <a:r>
              <a:rPr lang="en-US" sz="1400" b="1" dirty="0"/>
              <a:t>Build and Capture Image issues</a:t>
            </a:r>
          </a:p>
          <a:p>
            <a:pPr marL="0" lvl="1" indent="0">
              <a:buNone/>
            </a:pPr>
            <a:r>
              <a:rPr lang="en-US" sz="1400" dirty="0"/>
              <a:t>Was it built on a VM or physical hardware?  </a:t>
            </a:r>
          </a:p>
        </p:txBody>
      </p:sp>
    </p:spTree>
    <p:extLst>
      <p:ext uri="{BB962C8B-B14F-4D97-AF65-F5344CB8AC3E}">
        <p14:creationId xmlns:p14="http://schemas.microsoft.com/office/powerpoint/2010/main" val="42295065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6B9231A-B34B-4A29-A6AC-532E1EE81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8A5AA730-8D4C-8A1A-67CB-1063638FC0BC}"/>
              </a:ext>
            </a:extLst>
          </p:cNvPr>
          <p:cNvSpPr>
            <a:spLocks noGrp="1"/>
          </p:cNvSpPr>
          <p:nvPr>
            <p:ph type="ctrTitle"/>
          </p:nvPr>
        </p:nvSpPr>
        <p:spPr>
          <a:xfrm>
            <a:off x="559219" y="1115844"/>
            <a:ext cx="7680960" cy="4631911"/>
          </a:xfrm>
        </p:spPr>
        <p:txBody>
          <a:bodyPr anchor="b">
            <a:normAutofit/>
          </a:bodyPr>
          <a:lstStyle/>
          <a:p>
            <a:r>
              <a:rPr lang="en-US" sz="6500"/>
              <a:t>Common Deployment Issues</a:t>
            </a:r>
          </a:p>
        </p:txBody>
      </p:sp>
      <p:cxnSp>
        <p:nvCxnSpPr>
          <p:cNvPr id="11" name="Straight Connector 10">
            <a:extLst>
              <a:ext uri="{FF2B5EF4-FFF2-40B4-BE49-F238E27FC236}">
                <a16:creationId xmlns:a16="http://schemas.microsoft.com/office/drawing/2014/main" id="{53C0BBAA-A5EC-5D5D-32E6-9F7EA60484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131" y="6268313"/>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77573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7AE5AF-49E9-88B4-2CA5-7A0B7B47157B}"/>
              </a:ext>
            </a:extLst>
          </p:cNvPr>
          <p:cNvSpPr>
            <a:spLocks noGrp="1"/>
          </p:cNvSpPr>
          <p:nvPr>
            <p:ph type="title"/>
          </p:nvPr>
        </p:nvSpPr>
        <p:spPr>
          <a:xfrm>
            <a:off x="5029200" y="914400"/>
            <a:ext cx="6501810" cy="1097280"/>
          </a:xfrm>
        </p:spPr>
        <p:txBody>
          <a:bodyPr vert="horz" lIns="91440" tIns="45720" rIns="91440" bIns="45720" rtlCol="0" anchor="t">
            <a:normAutofit/>
          </a:bodyPr>
          <a:lstStyle/>
          <a:p>
            <a:r>
              <a:rPr lang="en-US"/>
              <a:t>Domain Join Problems</a:t>
            </a:r>
          </a:p>
        </p:txBody>
      </p:sp>
      <p:pic>
        <p:nvPicPr>
          <p:cNvPr id="5" name="Content Placeholder 4" descr="Digital concept which shows abstract network and concept of security optimization and internet technology  ">
            <a:extLst>
              <a:ext uri="{FF2B5EF4-FFF2-40B4-BE49-F238E27FC236}">
                <a16:creationId xmlns:a16="http://schemas.microsoft.com/office/drawing/2014/main" id="{497C810A-F7A6-4280-B1BF-6AFCEA50CA63}"/>
              </a:ext>
            </a:extLst>
          </p:cNvPr>
          <p:cNvPicPr>
            <a:picLocks noGrp="1" noChangeAspect="1"/>
          </p:cNvPicPr>
          <p:nvPr>
            <p:ph sz="half" idx="1"/>
          </p:nvPr>
        </p:nvPicPr>
        <p:blipFill>
          <a:blip r:embed="rId3"/>
          <a:srcRect l="21623" r="24752" b="-2"/>
          <a:stretch>
            <a:fillRect/>
          </a:stretch>
        </p:blipFill>
        <p:spPr>
          <a:xfrm>
            <a:off x="20" y="914399"/>
            <a:ext cx="4416532"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050190E5-A624-286A-A10F-E6175C91F38F}"/>
              </a:ext>
            </a:extLst>
          </p:cNvPr>
          <p:cNvSpPr>
            <a:spLocks noGrp="1"/>
          </p:cNvSpPr>
          <p:nvPr>
            <p:ph sz="half" idx="2"/>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5029200" y="2176036"/>
            <a:ext cx="6501810" cy="4121885"/>
          </a:xfrm>
        </p:spPr>
        <p:txBody>
          <a:bodyPr>
            <a:normAutofit/>
          </a:bodyPr>
          <a:lstStyle/>
          <a:p>
            <a:pPr marL="0" indent="0">
              <a:spcBef>
                <a:spcPts val="2500"/>
              </a:spcBef>
              <a:buNone/>
            </a:pPr>
            <a:r>
              <a:rPr lang="en-US" sz="1400" b="1" dirty="0"/>
              <a:t>Network Connectivity Issues</a:t>
            </a:r>
          </a:p>
          <a:p>
            <a:pPr marL="0" lvl="1" indent="0">
              <a:buNone/>
            </a:pPr>
            <a:r>
              <a:rPr lang="en-US" sz="1400" dirty="0"/>
              <a:t>Network connectivity problems can hinder the domain join process, causing deployment failures and delays.</a:t>
            </a:r>
          </a:p>
          <a:p>
            <a:pPr marL="0" indent="0">
              <a:spcBef>
                <a:spcPts val="2500"/>
              </a:spcBef>
              <a:buNone/>
            </a:pPr>
            <a:r>
              <a:rPr lang="en-US" sz="1400" b="1" dirty="0"/>
              <a:t>Incorrect Credentials</a:t>
            </a:r>
          </a:p>
          <a:p>
            <a:pPr marL="0" lvl="1" indent="0">
              <a:buNone/>
            </a:pPr>
            <a:r>
              <a:rPr lang="en-US" sz="1400" dirty="0"/>
              <a:t>Using incorrect credentials during the domain join can result in access failures and necessitate troubleshooting.</a:t>
            </a:r>
          </a:p>
          <a:p>
            <a:pPr marL="0" indent="0">
              <a:spcBef>
                <a:spcPts val="2500"/>
              </a:spcBef>
              <a:buNone/>
            </a:pPr>
            <a:r>
              <a:rPr lang="en-US" sz="1400" b="1" dirty="0"/>
              <a:t>Domain Policy Settings</a:t>
            </a:r>
          </a:p>
          <a:p>
            <a:pPr marL="0" lvl="1" indent="0">
              <a:buNone/>
            </a:pPr>
            <a:r>
              <a:rPr lang="en-US" sz="1400" dirty="0"/>
              <a:t>Domain policy settings must be configured correctly to enable successful domain joining during OSD.</a:t>
            </a:r>
          </a:p>
        </p:txBody>
      </p:sp>
    </p:spTree>
    <p:extLst>
      <p:ext uri="{BB962C8B-B14F-4D97-AF65-F5344CB8AC3E}">
        <p14:creationId xmlns:p14="http://schemas.microsoft.com/office/powerpoint/2010/main" val="5807408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3B55B3-201F-1366-5BFC-6137A8306F03}"/>
              </a:ext>
            </a:extLst>
          </p:cNvPr>
          <p:cNvSpPr>
            <a:spLocks noGrp="1"/>
          </p:cNvSpPr>
          <p:nvPr>
            <p:ph type="title"/>
          </p:nvPr>
        </p:nvSpPr>
        <p:spPr>
          <a:xfrm>
            <a:off x="640079" y="914400"/>
            <a:ext cx="4261104" cy="1097280"/>
          </a:xfrm>
        </p:spPr>
        <p:txBody>
          <a:bodyPr vert="horz" lIns="91440" tIns="45720" rIns="91440" bIns="45720" rtlCol="0" anchor="t">
            <a:normAutofit/>
          </a:bodyPr>
          <a:lstStyle/>
          <a:p>
            <a:pPr>
              <a:lnSpc>
                <a:spcPct val="90000"/>
              </a:lnSpc>
            </a:pPr>
            <a:r>
              <a:rPr lang="en-US" sz="3600" dirty="0"/>
              <a:t>Driver-Related Issues</a:t>
            </a:r>
          </a:p>
        </p:txBody>
      </p:sp>
      <p:cxnSp>
        <p:nvCxnSpPr>
          <p:cNvPr id="14" name="Straight Connector 13">
            <a:extLst>
              <a:ext uri="{FF2B5EF4-FFF2-40B4-BE49-F238E27FC236}">
                <a16:creationId xmlns:a16="http://schemas.microsoft.com/office/drawing/2014/main" id="{92025DBA-8780-9CA0-2826-FF6E3BD1A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672328" y="6267921"/>
            <a:ext cx="6519672" cy="2"/>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17" name="Content Placeholder 16">
            <a:extLst>
              <a:ext uri="{FF2B5EF4-FFF2-40B4-BE49-F238E27FC236}">
                <a16:creationId xmlns:a16="http://schemas.microsoft.com/office/drawing/2014/main" id="{A8B7F4DE-6453-549F-33EF-520568CD4F48}"/>
              </a:ext>
            </a:extLst>
          </p:cNvPr>
          <p:cNvPicPr>
            <a:picLocks noGrp="1" noChangeAspect="1"/>
          </p:cNvPicPr>
          <p:nvPr>
            <p:ph sz="half" idx="1"/>
          </p:nvPr>
        </p:nvPicPr>
        <p:blipFill>
          <a:blip r:embed="rId3"/>
          <a:stretch>
            <a:fillRect/>
          </a:stretch>
        </p:blipFill>
        <p:spPr>
          <a:xfrm>
            <a:off x="4555946" y="384393"/>
            <a:ext cx="12108022" cy="5011848"/>
          </a:xfrm>
        </p:spPr>
      </p:pic>
      <p:sp>
        <p:nvSpPr>
          <p:cNvPr id="4" name="Content Placeholder 3">
            <a:extLst>
              <a:ext uri="{FF2B5EF4-FFF2-40B4-BE49-F238E27FC236}">
                <a16:creationId xmlns:a16="http://schemas.microsoft.com/office/drawing/2014/main" id="{BDD741C6-B34C-B92C-2934-F72FD1366EE3}"/>
              </a:ext>
            </a:extLst>
          </p:cNvPr>
          <p:cNvSpPr>
            <a:spLocks noGrp="1"/>
          </p:cNvSpPr>
          <p:nvPr>
            <p:ph sz="half" idx="2"/>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640078" y="2176036"/>
            <a:ext cx="5455921" cy="4121887"/>
          </a:xfrm>
        </p:spPr>
        <p:txBody>
          <a:bodyPr>
            <a:normAutofit/>
          </a:bodyPr>
          <a:lstStyle/>
          <a:p>
            <a:pPr marL="0" indent="0">
              <a:spcBef>
                <a:spcPts val="2500"/>
              </a:spcBef>
              <a:buNone/>
            </a:pPr>
            <a:r>
              <a:rPr lang="en-US" sz="1400" dirty="0"/>
              <a:t>Looking at you Dell…. Enabling RAID in the bios by default?  Why?</a:t>
            </a:r>
          </a:p>
          <a:p>
            <a:pPr marL="0" indent="0">
              <a:spcBef>
                <a:spcPts val="2500"/>
              </a:spcBef>
              <a:buNone/>
            </a:pPr>
            <a:r>
              <a:rPr lang="en-US" sz="1400" dirty="0"/>
              <a:t>AHCI for the win!  But if it’s too late, make sure you’ve added the correct RST drivers from intel into your boot image. This can be a little trial and error.  Then make sure you’re getting those same drivers applied to the machine!</a:t>
            </a:r>
          </a:p>
          <a:p>
            <a:pPr marL="0" indent="0">
              <a:spcBef>
                <a:spcPts val="2500"/>
              </a:spcBef>
              <a:buNone/>
            </a:pPr>
            <a:r>
              <a:rPr lang="en-US" sz="1400" dirty="0"/>
              <a:t>Touchpad / Touchscreen drivers.  If you want those during OSD.  When add drivers into boot image, make sure you don’t limit to “Storage / Network Class” or you’ll miss some of these.</a:t>
            </a:r>
          </a:p>
          <a:p>
            <a:pPr marL="0" indent="0">
              <a:spcBef>
                <a:spcPts val="2500"/>
              </a:spcBef>
              <a:buNone/>
            </a:pPr>
            <a:endParaRPr lang="en-US" sz="1400" dirty="0"/>
          </a:p>
        </p:txBody>
      </p:sp>
    </p:spTree>
    <p:extLst>
      <p:ext uri="{BB962C8B-B14F-4D97-AF65-F5344CB8AC3E}">
        <p14:creationId xmlns:p14="http://schemas.microsoft.com/office/powerpoint/2010/main" val="33411647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C47E4-7606-3390-4D10-0EA783791B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1488BC-72E8-0372-BB17-F08C40BD8136}"/>
              </a:ext>
            </a:extLst>
          </p:cNvPr>
          <p:cNvSpPr>
            <a:spLocks noGrp="1"/>
          </p:cNvSpPr>
          <p:nvPr>
            <p:ph type="title"/>
          </p:nvPr>
        </p:nvSpPr>
        <p:spPr>
          <a:xfrm>
            <a:off x="572346" y="534352"/>
            <a:ext cx="4261104" cy="1097280"/>
          </a:xfrm>
        </p:spPr>
        <p:txBody>
          <a:bodyPr vert="horz" lIns="91440" tIns="45720" rIns="91440" bIns="45720" rtlCol="0" anchor="t">
            <a:normAutofit/>
          </a:bodyPr>
          <a:lstStyle/>
          <a:p>
            <a:pPr>
              <a:lnSpc>
                <a:spcPct val="90000"/>
              </a:lnSpc>
            </a:pPr>
            <a:r>
              <a:rPr lang="en-US" sz="3600" dirty="0"/>
              <a:t>Driver-Related Issues - Continued</a:t>
            </a:r>
          </a:p>
        </p:txBody>
      </p:sp>
      <p:sp>
        <p:nvSpPr>
          <p:cNvPr id="4" name="Content Placeholder 3">
            <a:extLst>
              <a:ext uri="{FF2B5EF4-FFF2-40B4-BE49-F238E27FC236}">
                <a16:creationId xmlns:a16="http://schemas.microsoft.com/office/drawing/2014/main" id="{12B0A8C2-9BC9-148E-C1AE-3850DFC0E45B}"/>
              </a:ext>
            </a:extLst>
          </p:cNvPr>
          <p:cNvSpPr>
            <a:spLocks noGrp="1"/>
          </p:cNvSpPr>
          <p:nvPr>
            <p:ph sz="half" idx="2"/>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640079" y="2176036"/>
            <a:ext cx="4749730" cy="4121887"/>
          </a:xfrm>
        </p:spPr>
        <p:txBody>
          <a:bodyPr>
            <a:normAutofit/>
          </a:bodyPr>
          <a:lstStyle/>
          <a:p>
            <a:pPr marL="0" indent="0">
              <a:spcBef>
                <a:spcPts val="2500"/>
              </a:spcBef>
              <a:buNone/>
            </a:pPr>
            <a:r>
              <a:rPr lang="en-US" sz="1400" dirty="0"/>
              <a:t>Don’t import drivers into CM… just don’t do it!  I typically will only import the WinPE driver packs, and even that I rarely do anymore..</a:t>
            </a:r>
          </a:p>
          <a:p>
            <a:pPr marL="0" indent="0">
              <a:spcBef>
                <a:spcPts val="2500"/>
              </a:spcBef>
              <a:buNone/>
            </a:pPr>
            <a:r>
              <a:rPr lang="en-US" sz="1400" dirty="0"/>
              <a:t>Move to “Modern CM Driver Management”, create standard packages of the driver content, with a custom step to apply the drivers to the offline image.  It allows for faster deployments (if you WIM the contents), it’s instant for creating the package vs waiting for ever for the import wizard,</a:t>
            </a:r>
          </a:p>
          <a:p>
            <a:pPr marL="0" indent="0">
              <a:spcBef>
                <a:spcPts val="2500"/>
              </a:spcBef>
              <a:buNone/>
            </a:pPr>
            <a:r>
              <a:rPr lang="en-US" sz="1400" dirty="0">
                <a:hlinkClick r:id="rId3"/>
              </a:rPr>
              <a:t>DISM Apply Drivers – </a:t>
            </a:r>
            <a:r>
              <a:rPr lang="en-US" sz="1400" dirty="0" err="1">
                <a:hlinkClick r:id="rId3"/>
              </a:rPr>
              <a:t>TSProgressUI</a:t>
            </a:r>
            <a:r>
              <a:rPr lang="en-US" sz="1400" dirty="0">
                <a:hlinkClick r:id="rId3"/>
              </a:rPr>
              <a:t> </a:t>
            </a:r>
            <a:r>
              <a:rPr lang="en-US" sz="1400" dirty="0" err="1">
                <a:hlinkClick r:id="rId3"/>
              </a:rPr>
              <a:t>SubBar</a:t>
            </a:r>
            <a:r>
              <a:rPr lang="en-US" sz="1400" dirty="0">
                <a:hlinkClick r:id="rId3"/>
              </a:rPr>
              <a:t> – GARYTOWN </a:t>
            </a:r>
            <a:r>
              <a:rPr lang="en-US" sz="1400" dirty="0" err="1">
                <a:hlinkClick r:id="rId3"/>
              </a:rPr>
              <a:t>ConfigMgr</a:t>
            </a:r>
            <a:r>
              <a:rPr lang="en-US" sz="1400" dirty="0">
                <a:hlinkClick r:id="rId3"/>
              </a:rPr>
              <a:t> Blog</a:t>
            </a:r>
            <a:endParaRPr lang="en-US" sz="1400" dirty="0"/>
          </a:p>
        </p:txBody>
      </p:sp>
      <p:pic>
        <p:nvPicPr>
          <p:cNvPr id="8194" name="Picture 2">
            <a:extLst>
              <a:ext uri="{FF2B5EF4-FFF2-40B4-BE49-F238E27FC236}">
                <a16:creationId xmlns:a16="http://schemas.microsoft.com/office/drawing/2014/main" id="{39A471C9-D736-A32A-B53C-CF6C36CCE5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6295" y="154305"/>
            <a:ext cx="6572250" cy="185737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38D7FB3-9D94-AE34-00B1-913417461300}"/>
              </a:ext>
            </a:extLst>
          </p:cNvPr>
          <p:cNvSpPr txBox="1"/>
          <p:nvPr/>
        </p:nvSpPr>
        <p:spPr>
          <a:xfrm>
            <a:off x="5576552" y="2279561"/>
            <a:ext cx="5917842" cy="369332"/>
          </a:xfrm>
          <a:prstGeom prst="rect">
            <a:avLst/>
          </a:prstGeom>
          <a:noFill/>
        </p:spPr>
        <p:txBody>
          <a:bodyPr wrap="square" rtlCol="0">
            <a:spAutoFit/>
          </a:bodyPr>
          <a:lstStyle/>
          <a:p>
            <a:endParaRPr lang="en-US" dirty="0"/>
          </a:p>
        </p:txBody>
      </p:sp>
      <p:sp>
        <p:nvSpPr>
          <p:cNvPr id="7" name="Content Placeholder 3">
            <a:extLst>
              <a:ext uri="{FF2B5EF4-FFF2-40B4-BE49-F238E27FC236}">
                <a16:creationId xmlns:a16="http://schemas.microsoft.com/office/drawing/2014/main" id="{AE3A6F6C-13E8-A661-1AE8-9277001EF432}"/>
              </a:ext>
            </a:extLst>
          </p:cNvPr>
          <p:cNvSpPr txBox="1">
            <a:spLocks/>
          </p:cNvSpPr>
          <p:nvPr>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6096000" y="2464227"/>
            <a:ext cx="4749730" cy="412188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2500"/>
              </a:spcBef>
              <a:buFont typeface="Arial" panose="020B0604020202020204" pitchFamily="34" charset="0"/>
              <a:buNone/>
            </a:pPr>
            <a:r>
              <a:rPr lang="en-US" sz="1400" dirty="0"/>
              <a:t>Driver packs, you need to stay on top of this.</a:t>
            </a:r>
            <a:br>
              <a:rPr lang="en-US" sz="1400" dirty="0"/>
            </a:br>
            <a:r>
              <a:rPr lang="en-US" sz="1400" dirty="0"/>
              <a:t>Update regularly, or create your own updated ones with vendor tools.</a:t>
            </a:r>
            <a:br>
              <a:rPr lang="en-US" sz="1400" dirty="0"/>
            </a:br>
            <a:r>
              <a:rPr lang="en-US" sz="1400" dirty="0"/>
              <a:t>Make sure you’re testing, so much hinges on drivers now.</a:t>
            </a:r>
          </a:p>
          <a:p>
            <a:pPr marL="0" indent="0">
              <a:spcBef>
                <a:spcPts val="2500"/>
              </a:spcBef>
              <a:buFont typeface="Arial" panose="020B0604020202020204" pitchFamily="34" charset="0"/>
              <a:buNone/>
            </a:pPr>
            <a:r>
              <a:rPr lang="en-US" sz="1400" dirty="0"/>
              <a:t>Offline &amp; Online stages</a:t>
            </a:r>
          </a:p>
          <a:p>
            <a:pPr marL="0" indent="0">
              <a:spcBef>
                <a:spcPts val="2500"/>
              </a:spcBef>
              <a:buNone/>
            </a:pPr>
            <a:r>
              <a:rPr lang="en-US" sz="1400" dirty="0"/>
              <a:t>UWP App Drivers (HSAs).  Many driver packs include these, which do not get installed automatically,  You’d have to run separate script in Full OS to apply.</a:t>
            </a:r>
            <a:br>
              <a:rPr lang="en-US" sz="1400" dirty="0"/>
            </a:br>
            <a:r>
              <a:rPr lang="en-US" sz="1400" dirty="0">
                <a:hlinkClick r:id="rId5"/>
              </a:rPr>
              <a:t>New Combined Driver and UWP-HSA Packs | hp's Developer Portal</a:t>
            </a:r>
            <a:endParaRPr lang="en-US" sz="1400" dirty="0"/>
          </a:p>
        </p:txBody>
      </p:sp>
    </p:spTree>
    <p:extLst>
      <p:ext uri="{BB962C8B-B14F-4D97-AF65-F5344CB8AC3E}">
        <p14:creationId xmlns:p14="http://schemas.microsoft.com/office/powerpoint/2010/main" val="33052858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250"/>
                                  </p:stCondLst>
                                  <p:iterate>
                                    <p:tmPct val="10000"/>
                                  </p:iterate>
                                  <p:childTnLst>
                                    <p:set>
                                      <p:cBhvr>
                                        <p:cTn id="11" dur="1" fill="hold">
                                          <p:stCondLst>
                                            <p:cond delay="0"/>
                                          </p:stCondLst>
                                        </p:cTn>
                                        <p:tgtEl>
                                          <p:spTgt spid="7"/>
                                        </p:tgtEl>
                                        <p:attrNameLst>
                                          <p:attrName>style.visibility</p:attrName>
                                        </p:attrNameLst>
                                      </p:cBhvr>
                                      <p:to>
                                        <p:strVal val="visible"/>
                                      </p:to>
                                    </p:set>
                                    <p:animEffect transition="in" filter="fade">
                                      <p:cBhvr>
                                        <p:cTn id="12" dur="250"/>
                                        <p:tgtEl>
                                          <p:spTgt spid="7"/>
                                        </p:tgtEl>
                                      </p:cBhvr>
                                    </p:animEffect>
                                    <p:anim calcmode="lin" valueType="num">
                                      <p:cBhvr>
                                        <p:cTn id="13" dur="250" fill="hold"/>
                                        <p:tgtEl>
                                          <p:spTgt spid="7"/>
                                        </p:tgtEl>
                                        <p:attrNameLst>
                                          <p:attrName>ppt_x</p:attrName>
                                        </p:attrNameLst>
                                      </p:cBhvr>
                                      <p:tavLst>
                                        <p:tav tm="0">
                                          <p:val>
                                            <p:strVal val="#ppt_x"/>
                                          </p:val>
                                        </p:tav>
                                        <p:tav tm="100000">
                                          <p:val>
                                            <p:strVal val="#ppt_x"/>
                                          </p:val>
                                        </p:tav>
                                      </p:tavLst>
                                    </p:anim>
                                    <p:anim calcmode="lin" valueType="num">
                                      <p:cBhvr>
                                        <p:cTn id="14"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B8C253-4C39-8F76-1E17-142495F88076}"/>
              </a:ext>
            </a:extLst>
          </p:cNvPr>
          <p:cNvSpPr>
            <a:spLocks noGrp="1"/>
          </p:cNvSpPr>
          <p:nvPr>
            <p:ph type="title"/>
          </p:nvPr>
        </p:nvSpPr>
        <p:spPr>
          <a:xfrm>
            <a:off x="5029200" y="914400"/>
            <a:ext cx="6501810" cy="1097280"/>
          </a:xfrm>
        </p:spPr>
        <p:txBody>
          <a:bodyPr vert="horz" lIns="91440" tIns="45720" rIns="91440" bIns="45720" rtlCol="0" anchor="t">
            <a:normAutofit/>
          </a:bodyPr>
          <a:lstStyle/>
          <a:p>
            <a:r>
              <a:rPr lang="en-US" dirty="0"/>
              <a:t>Impact of Hardware</a:t>
            </a:r>
          </a:p>
        </p:txBody>
      </p:sp>
      <p:pic>
        <p:nvPicPr>
          <p:cNvPr id="5" name="Content Placeholder 4" descr="legs of a microprocessor - macro">
            <a:extLst>
              <a:ext uri="{FF2B5EF4-FFF2-40B4-BE49-F238E27FC236}">
                <a16:creationId xmlns:a16="http://schemas.microsoft.com/office/drawing/2014/main" id="{8F2A192C-1ECB-4C49-BA87-9324791E02D2}"/>
              </a:ext>
            </a:extLst>
          </p:cNvPr>
          <p:cNvPicPr>
            <a:picLocks noGrp="1" noChangeAspect="1"/>
          </p:cNvPicPr>
          <p:nvPr>
            <p:ph sz="half" idx="1"/>
          </p:nvPr>
        </p:nvPicPr>
        <p:blipFill>
          <a:blip r:embed="rId3"/>
          <a:srcRect l="23537" r="21397" b="2"/>
          <a:stretch>
            <a:fillRect/>
          </a:stretch>
        </p:blipFill>
        <p:spPr>
          <a:xfrm>
            <a:off x="20" y="914399"/>
            <a:ext cx="4416532" cy="5353523"/>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A5BA6318-50BE-0E8E-EDCF-01789F3FF086}"/>
              </a:ext>
            </a:extLst>
          </p:cNvPr>
          <p:cNvSpPr>
            <a:spLocks noGrp="1"/>
          </p:cNvSpPr>
          <p:nvPr>
            <p:ph sz="half" idx="2"/>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5029200" y="2176036"/>
            <a:ext cx="6501810" cy="4121885"/>
          </a:xfrm>
        </p:spPr>
        <p:txBody>
          <a:bodyPr>
            <a:normAutofit/>
          </a:bodyPr>
          <a:lstStyle/>
          <a:p>
            <a:pPr marL="0" indent="0">
              <a:spcBef>
                <a:spcPts val="2500"/>
              </a:spcBef>
              <a:buNone/>
            </a:pPr>
            <a:r>
              <a:rPr lang="en-US" sz="1400" b="1" dirty="0"/>
              <a:t>Compatibility Issues</a:t>
            </a:r>
          </a:p>
          <a:p>
            <a:pPr marL="0" lvl="1" indent="0">
              <a:buNone/>
            </a:pPr>
            <a:r>
              <a:rPr lang="en-US" sz="1400" dirty="0"/>
              <a:t>Windows 11 is the big question right now, but anything for the past 8 years *should* support Windows 11.  NOTE that some models sport Windows 11 in general, but perhaps not the latest releases, so you’ll want to also pay attention to that.</a:t>
            </a:r>
          </a:p>
          <a:p>
            <a:pPr marL="0" indent="0">
              <a:spcBef>
                <a:spcPts val="2500"/>
              </a:spcBef>
              <a:buNone/>
            </a:pPr>
            <a:r>
              <a:rPr lang="en-US" sz="1400" b="1" dirty="0"/>
              <a:t>Specific Hardware Settings</a:t>
            </a:r>
          </a:p>
          <a:p>
            <a:pPr marL="0" lvl="1" indent="0">
              <a:buNone/>
            </a:pPr>
            <a:r>
              <a:rPr lang="en-US" sz="1400" dirty="0"/>
              <a:t>I highly recommend going through your BIOS settings and double checking what they are and how they are set from the OEM, then only using drivers from the OEM.  </a:t>
            </a:r>
          </a:p>
          <a:p>
            <a:pPr marL="0" lvl="1" indent="0">
              <a:buNone/>
            </a:pPr>
            <a:r>
              <a:rPr lang="en-US" sz="1400" dirty="0"/>
              <a:t>If you contact OEM support, they will first have you run their OEM tools to update drivers, and many times, that resolves the issue.</a:t>
            </a:r>
          </a:p>
          <a:p>
            <a:pPr marL="0" lvl="1" indent="0">
              <a:buNone/>
            </a:pPr>
            <a:endParaRPr lang="en-US" sz="1400" dirty="0"/>
          </a:p>
          <a:p>
            <a:pPr marL="0" lvl="1" indent="0">
              <a:buNone/>
            </a:pPr>
            <a:r>
              <a:rPr lang="en-US" sz="1400" dirty="0"/>
              <a:t>When possible and where it makes sense, STANDARDIZE</a:t>
            </a:r>
          </a:p>
        </p:txBody>
      </p:sp>
    </p:spTree>
    <p:extLst>
      <p:ext uri="{BB962C8B-B14F-4D97-AF65-F5344CB8AC3E}">
        <p14:creationId xmlns:p14="http://schemas.microsoft.com/office/powerpoint/2010/main" val="21730229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6B9231A-B34B-4A29-A6AC-532E1EE81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6373FE38-2C6E-0573-BAAF-2548B4816D5F}"/>
              </a:ext>
            </a:extLst>
          </p:cNvPr>
          <p:cNvSpPr>
            <a:spLocks noGrp="1"/>
          </p:cNvSpPr>
          <p:nvPr>
            <p:ph type="ctrTitle"/>
          </p:nvPr>
        </p:nvSpPr>
        <p:spPr>
          <a:xfrm>
            <a:off x="559219" y="1115844"/>
            <a:ext cx="7680960" cy="4631911"/>
          </a:xfrm>
        </p:spPr>
        <p:txBody>
          <a:bodyPr anchor="b">
            <a:normAutofit/>
          </a:bodyPr>
          <a:lstStyle/>
          <a:p>
            <a:r>
              <a:rPr lang="en-US" sz="6500"/>
              <a:t>OSD Debugging Tools</a:t>
            </a:r>
          </a:p>
        </p:txBody>
      </p:sp>
      <p:cxnSp>
        <p:nvCxnSpPr>
          <p:cNvPr id="11" name="Straight Connector 10">
            <a:extLst>
              <a:ext uri="{FF2B5EF4-FFF2-40B4-BE49-F238E27FC236}">
                <a16:creationId xmlns:a16="http://schemas.microsoft.com/office/drawing/2014/main" id="{53C0BBAA-A5EC-5D5D-32E6-9F7EA60484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131" y="6268313"/>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83648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B6EE25-1BEA-942B-46CB-9A694EA8F3FD}"/>
              </a:ext>
            </a:extLst>
          </p:cNvPr>
          <p:cNvSpPr>
            <a:spLocks noGrp="1"/>
          </p:cNvSpPr>
          <p:nvPr>
            <p:ph type="title"/>
          </p:nvPr>
        </p:nvSpPr>
        <p:spPr>
          <a:xfrm>
            <a:off x="640080" y="334851"/>
            <a:ext cx="3571312" cy="1676829"/>
          </a:xfrm>
        </p:spPr>
        <p:txBody>
          <a:bodyPr vert="horz" lIns="91440" tIns="45720" rIns="91440" bIns="45720" rtlCol="0" anchor="t">
            <a:normAutofit/>
          </a:bodyPr>
          <a:lstStyle/>
          <a:p>
            <a:pPr>
              <a:lnSpc>
                <a:spcPct val="90000"/>
              </a:lnSpc>
            </a:pPr>
            <a:r>
              <a:rPr lang="en-US" sz="3400" dirty="0"/>
              <a:t>Introduction to the CM OS Debugger</a:t>
            </a:r>
          </a:p>
        </p:txBody>
      </p:sp>
      <p:sp>
        <p:nvSpPr>
          <p:cNvPr id="4" name="Content Placeholder 3">
            <a:extLst>
              <a:ext uri="{FF2B5EF4-FFF2-40B4-BE49-F238E27FC236}">
                <a16:creationId xmlns:a16="http://schemas.microsoft.com/office/drawing/2014/main" id="{A20119CD-B364-16D2-17A0-30FCC0E6EB04}"/>
              </a:ext>
            </a:extLst>
          </p:cNvPr>
          <p:cNvSpPr>
            <a:spLocks noGrp="1"/>
          </p:cNvSpPr>
          <p:nvPr>
            <p:ph sz="half" idx="2"/>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640080" y="2176036"/>
            <a:ext cx="3646116" cy="4123944"/>
          </a:xfrm>
        </p:spPr>
        <p:txBody>
          <a:bodyPr>
            <a:normAutofit/>
          </a:bodyPr>
          <a:lstStyle/>
          <a:p>
            <a:pPr marL="0" indent="0">
              <a:spcBef>
                <a:spcPts val="2500"/>
              </a:spcBef>
              <a:buNone/>
            </a:pPr>
            <a:r>
              <a:rPr lang="en-US" sz="1400" b="1" dirty="0"/>
              <a:t>Enable it several ways, I prefer to set a variable before the step I want to start debugging.</a:t>
            </a:r>
          </a:p>
          <a:p>
            <a:pPr marL="0" indent="0">
              <a:spcBef>
                <a:spcPts val="2500"/>
              </a:spcBef>
              <a:buNone/>
            </a:pPr>
            <a:r>
              <a:rPr lang="en-US" sz="1400" b="1" dirty="0"/>
              <a:t>Provides list of variables, and allows you to step through TS</a:t>
            </a:r>
          </a:p>
          <a:p>
            <a:pPr marL="0" indent="0">
              <a:spcBef>
                <a:spcPts val="2500"/>
              </a:spcBef>
              <a:buNone/>
            </a:pPr>
            <a:r>
              <a:rPr lang="en-US" sz="1400" b="1" dirty="0"/>
              <a:t>Requires Admin rights when starting in Full OS</a:t>
            </a:r>
          </a:p>
          <a:p>
            <a:pPr marL="0" indent="0">
              <a:spcBef>
                <a:spcPts val="2500"/>
              </a:spcBef>
              <a:buNone/>
            </a:pPr>
            <a:endParaRPr lang="en-US" sz="1400" dirty="0"/>
          </a:p>
        </p:txBody>
      </p:sp>
      <p:cxnSp>
        <p:nvCxnSpPr>
          <p:cNvPr id="14" name="Straight Connector 13">
            <a:extLst>
              <a:ext uri="{FF2B5EF4-FFF2-40B4-BE49-F238E27FC236}">
                <a16:creationId xmlns:a16="http://schemas.microsoft.com/office/drawing/2014/main" id="{92025DBA-8780-9CA0-2826-FF6E3BD1A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774468" y="6271515"/>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7170" name="Picture 2" descr="TS Debug 3">
            <a:extLst>
              <a:ext uri="{FF2B5EF4-FFF2-40B4-BE49-F238E27FC236}">
                <a16:creationId xmlns:a16="http://schemas.microsoft.com/office/drawing/2014/main" id="{DAE9F9A3-A4FA-A61E-12DA-AB8D251361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4544" y="0"/>
            <a:ext cx="84455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273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6B02F9-77CE-AC6E-1C40-9A0053DDFD73}"/>
              </a:ext>
            </a:extLst>
          </p:cNvPr>
          <p:cNvSpPr>
            <a:spLocks noGrp="1"/>
          </p:cNvSpPr>
          <p:nvPr>
            <p:ph type="title"/>
          </p:nvPr>
        </p:nvSpPr>
        <p:spPr>
          <a:xfrm>
            <a:off x="640080" y="914400"/>
            <a:ext cx="6291472" cy="1097280"/>
          </a:xfrm>
        </p:spPr>
        <p:txBody>
          <a:bodyPr vert="horz" lIns="91440" tIns="45720" rIns="91440" bIns="45720" rtlCol="0" anchor="t">
            <a:normAutofit/>
          </a:bodyPr>
          <a:lstStyle/>
          <a:p>
            <a:pPr>
              <a:lnSpc>
                <a:spcPct val="90000"/>
              </a:lnSpc>
            </a:pPr>
            <a:r>
              <a:rPr lang="en-US" sz="3400" dirty="0"/>
              <a:t>Debug / Testing Scripts in WinPE and Full OS</a:t>
            </a:r>
          </a:p>
        </p:txBody>
      </p:sp>
      <p:sp>
        <p:nvSpPr>
          <p:cNvPr id="4" name="Content Placeholder 3">
            <a:extLst>
              <a:ext uri="{FF2B5EF4-FFF2-40B4-BE49-F238E27FC236}">
                <a16:creationId xmlns:a16="http://schemas.microsoft.com/office/drawing/2014/main" id="{B4E8C10A-7921-6B5B-433C-12DD0E9F2E82}"/>
              </a:ext>
            </a:extLst>
          </p:cNvPr>
          <p:cNvSpPr>
            <a:spLocks noGrp="1"/>
          </p:cNvSpPr>
          <p:nvPr>
            <p:ph sz="half" idx="2"/>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582125" y="2079445"/>
            <a:ext cx="6291472" cy="4123944"/>
          </a:xfrm>
        </p:spPr>
        <p:txBody>
          <a:bodyPr>
            <a:normAutofit/>
          </a:bodyPr>
          <a:lstStyle/>
          <a:p>
            <a:pPr marL="0" indent="0">
              <a:spcBef>
                <a:spcPts val="2500"/>
              </a:spcBef>
              <a:buNone/>
            </a:pPr>
            <a:r>
              <a:rPr lang="en-US" sz="1800" dirty="0"/>
              <a:t>Create a Debug TS that you can launch from the Full OS or from WinPE.  In the Full OS, set it to launch ISE so you can test your scripts while it interacts with the TS environment.  In WinPE, have it launch PowerShell, and you can then trigger scripts or sections of code.</a:t>
            </a:r>
          </a:p>
          <a:p>
            <a:pPr marL="0" indent="0">
              <a:spcBef>
                <a:spcPts val="2500"/>
              </a:spcBef>
              <a:buNone/>
            </a:pPr>
            <a:r>
              <a:rPr lang="en-US" sz="1800" dirty="0"/>
              <a:t>I like to host my scripts on GitHub, then I can trigger them in WinPE via simple command like:</a:t>
            </a:r>
            <a:br>
              <a:rPr lang="en-US" sz="1800" dirty="0"/>
            </a:br>
            <a:r>
              <a:rPr lang="en-US" sz="1800" dirty="0" err="1"/>
              <a:t>iex</a:t>
            </a:r>
            <a:r>
              <a:rPr lang="en-US" sz="1800" dirty="0"/>
              <a:t> (</a:t>
            </a:r>
            <a:r>
              <a:rPr lang="en-US" sz="1800" dirty="0" err="1"/>
              <a:t>irm</a:t>
            </a:r>
            <a:r>
              <a:rPr lang="en-US" sz="1800" dirty="0"/>
              <a:t> “</a:t>
            </a:r>
            <a:r>
              <a:rPr lang="en-US" sz="1800" dirty="0" err="1"/>
              <a:t>url</a:t>
            </a:r>
            <a:r>
              <a:rPr lang="en-US" sz="1800" dirty="0"/>
              <a:t> to script”)</a:t>
            </a:r>
            <a:br>
              <a:rPr lang="en-US" sz="1800" dirty="0"/>
            </a:br>
            <a:r>
              <a:rPr lang="en-US" sz="1800" dirty="0"/>
              <a:t>As it errors, I can fix the script on GitHub and try again, or pull a section of the code and walk through it local.</a:t>
            </a:r>
          </a:p>
        </p:txBody>
      </p:sp>
      <p:pic>
        <p:nvPicPr>
          <p:cNvPr id="5" name="Content Placeholder 4" descr="DNA code on large LED screen">
            <a:extLst>
              <a:ext uri="{FF2B5EF4-FFF2-40B4-BE49-F238E27FC236}">
                <a16:creationId xmlns:a16="http://schemas.microsoft.com/office/drawing/2014/main" id="{C633F861-B702-4D4B-B214-7F537F9FCC04}"/>
              </a:ext>
            </a:extLst>
          </p:cNvPr>
          <p:cNvPicPr>
            <a:picLocks noGrp="1" noChangeAspect="1"/>
          </p:cNvPicPr>
          <p:nvPr>
            <p:ph sz="half" idx="1"/>
          </p:nvPr>
        </p:nvPicPr>
        <p:blipFill>
          <a:blip r:embed="rId3"/>
          <a:srcRect r="44994"/>
          <a:stretch>
            <a:fillRect/>
          </a:stretch>
        </p:blipFill>
        <p:spPr>
          <a:xfrm>
            <a:off x="7776429" y="914400"/>
            <a:ext cx="4414591" cy="5357106"/>
          </a:xfrm>
          <a:prstGeom prst="rect">
            <a:avLst/>
          </a:prstGeom>
        </p:spPr>
      </p:pic>
      <p:cxnSp>
        <p:nvCxnSpPr>
          <p:cNvPr id="14" name="Straight Connector 13">
            <a:extLst>
              <a:ext uri="{FF2B5EF4-FFF2-40B4-BE49-F238E27FC236}">
                <a16:creationId xmlns:a16="http://schemas.microsoft.com/office/drawing/2014/main" id="{92025DBA-8780-9CA0-2826-FF6E3BD1A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774468" y="6271515"/>
            <a:ext cx="4416552" cy="1"/>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84180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A5B81069-0259-6081-15CF-21C38143236D}"/>
              </a:ext>
            </a:extLst>
          </p:cNvPr>
          <p:cNvSpPr>
            <a:spLocks noGrp="1"/>
          </p:cNvSpPr>
          <p:nvPr>
            <p:ph type="title"/>
          </p:nvPr>
        </p:nvSpPr>
        <p:spPr>
          <a:xfrm>
            <a:off x="640079" y="1572768"/>
            <a:ext cx="8162176" cy="1406993"/>
          </a:xfrm>
        </p:spPr>
        <p:txBody>
          <a:bodyPr anchor="b">
            <a:normAutofit/>
          </a:bodyPr>
          <a:lstStyle/>
          <a:p>
            <a:r>
              <a:rPr lang="en-US" sz="6000"/>
              <a:t>Conclusion</a:t>
            </a:r>
          </a:p>
        </p:txBody>
      </p:sp>
      <p:graphicFrame>
        <p:nvGraphicFramePr>
          <p:cNvPr id="11" name="Content Placeholder 2">
            <a:extLst>
              <a:ext uri="{FF2B5EF4-FFF2-40B4-BE49-F238E27FC236}">
                <a16:creationId xmlns:a16="http://schemas.microsoft.com/office/drawing/2014/main" id="{9A0FE054-595E-478E-EEEC-897A0D21BD2C}"/>
              </a:ext>
            </a:extLst>
          </p:cNvPr>
          <p:cNvGraphicFramePr>
            <a:graphicFrameLocks noGrp="1"/>
          </p:cNvGraphicFramePr>
          <p:nvPr>
            <p:ph idx="1"/>
            <p:extLst>
              <p:ext uri="{D42A27DB-BD31-4B8C-83A1-F6EECF244321}">
                <p14:modId xmlns:p14="http://schemas.microsoft.com/office/powerpoint/2010/main" val="3486977480"/>
              </p:ext>
              <p:ext uri="{E7BDC344-281C-4309-B0C6-D0EE65EED2A8}">
                <p202:designPr xmlns="" xmlns:p202="http://schemas.microsoft.com/office/powerpoint/2020/02/main">
                  <p202:designTagLst>
                    <p202:designTag name="ARCH:1:CLS" val="InformationBlock"/>
                    <p202:designTag name="ARCH:1:VSVAR" val="TitledTextBox"/>
                  </p202:designTagLst>
                </p202:designPr>
              </p:ext>
            </p:extLst>
          </p:nvPr>
        </p:nvGraphicFramePr>
        <p:xfrm>
          <a:off x="640078" y="3593592"/>
          <a:ext cx="10808208" cy="2514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10" name="Straight Connector 9">
            <a:extLst>
              <a:ext uri="{FF2B5EF4-FFF2-40B4-BE49-F238E27FC236}">
                <a16:creationId xmlns:a16="http://schemas.microsoft.com/office/drawing/2014/main" id="{F21FC8CC-145C-8745-889B-6521F9CCB62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3256965"/>
            <a:ext cx="978862" cy="0"/>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285520"/>
      </p:ext>
    </p:extLst>
  </p:cSld>
  <p:clrMapOvr>
    <a:masterClrMapping/>
  </p:clrMapOvr>
  <p:transition>
    <p:fade/>
  </p:transition>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9171</TotalTime>
  <Words>2005</Words>
  <Application>Microsoft Office PowerPoint</Application>
  <PresentationFormat>Widescreen</PresentationFormat>
  <Paragraphs>151</Paragraphs>
  <Slides>25</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Aptos</vt:lpstr>
      <vt:lpstr>Arial</vt:lpstr>
      <vt:lpstr>Bierstadt</vt:lpstr>
      <vt:lpstr>Grandview Display</vt:lpstr>
      <vt:lpstr>Neue Haas Grotesk Text Pro</vt:lpstr>
      <vt:lpstr>DashVTI</vt:lpstr>
      <vt:lpstr>Troubleshooting Operating System Deployment: Techniques and Tools</vt:lpstr>
      <vt:lpstr>Who R we, and why do we come so faR</vt:lpstr>
      <vt:lpstr>THANK YOU </vt:lpstr>
      <vt:lpstr>Agenda for Operating System Deployment</vt:lpstr>
      <vt:lpstr>ASK US ANYTHING OSD…..</vt:lpstr>
      <vt:lpstr>Basics of Operating System Deployment (OSD)</vt:lpstr>
      <vt:lpstr>Introduction to OSD</vt:lpstr>
      <vt:lpstr>WinPE Phase</vt:lpstr>
      <vt:lpstr>Specialize Phase</vt:lpstr>
      <vt:lpstr>Setup Complete</vt:lpstr>
      <vt:lpstr>Unattend File… do I need one, should I provide one?</vt:lpstr>
      <vt:lpstr>So how does CM build that unattend file?</vt:lpstr>
      <vt:lpstr>Building Unattend</vt:lpstr>
      <vt:lpstr>Unattend</vt:lpstr>
      <vt:lpstr>Configuration Manager OSD Troubleshooting</vt:lpstr>
      <vt:lpstr>Common Task Sequence Issues</vt:lpstr>
      <vt:lpstr>Common Deployment Issues</vt:lpstr>
      <vt:lpstr>Domain Join Problems</vt:lpstr>
      <vt:lpstr>Driver-Related Issues</vt:lpstr>
      <vt:lpstr>Driver-Related Issues - Continued</vt:lpstr>
      <vt:lpstr>Impact of Hardware</vt:lpstr>
      <vt:lpstr>OSD Debugging Tools</vt:lpstr>
      <vt:lpstr>Introduction to the CM OS Debugger</vt:lpstr>
      <vt:lpstr>Debug / Testing Scripts in WinPE and Full OS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Troubleshooting Operating System Deployment: Techniques and Tools</dc:title>
  <dc:creator>Gary Blok</dc:creator>
  <cp:lastModifiedBy>Gary Blok</cp:lastModifiedBy>
  <cp:revision>2</cp:revision>
  <dcterms:created xsi:type="dcterms:W3CDTF">2025-07-03T18:51:41Z</dcterms:created>
  <dcterms:modified xsi:type="dcterms:W3CDTF">2025-07-15T03:02:52Z</dcterms:modified>
</cp:coreProperties>
</file>